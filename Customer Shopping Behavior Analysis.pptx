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2539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17365C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36609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17365C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36609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17365C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17365C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2426" y="879829"/>
            <a:ext cx="6424930" cy="645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17365C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3376" y="1861084"/>
            <a:ext cx="5925184" cy="49060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36609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Customer</a:t>
            </a:r>
            <a:r>
              <a:rPr spc="-120" dirty="0"/>
              <a:t> </a:t>
            </a:r>
            <a:r>
              <a:rPr dirty="0"/>
              <a:t>Shopping</a:t>
            </a:r>
            <a:r>
              <a:rPr spc="-114" dirty="0"/>
              <a:t> </a:t>
            </a:r>
            <a:r>
              <a:rPr dirty="0"/>
              <a:t>Behavior</a:t>
            </a:r>
            <a:r>
              <a:rPr spc="-120" dirty="0"/>
              <a:t> </a:t>
            </a:r>
            <a:r>
              <a:rPr spc="-10" dirty="0"/>
              <a:t>Analysis</a:t>
            </a:r>
          </a:p>
          <a:p>
            <a:pPr marR="5080" algn="r">
              <a:lnSpc>
                <a:spcPct val="100000"/>
              </a:lnSpc>
              <a:spcBef>
                <a:spcPts val="75"/>
              </a:spcBef>
            </a:pPr>
            <a:r>
              <a:rPr sz="1400" i="1" u="sng" dirty="0">
                <a:uFill>
                  <a:solidFill>
                    <a:srgbClr val="17365C"/>
                  </a:solidFill>
                </a:uFill>
                <a:latin typeface="Arial"/>
                <a:cs typeface="Arial"/>
              </a:rPr>
              <a:t>~By</a:t>
            </a:r>
            <a:r>
              <a:rPr lang="en-IN" sz="1400" i="1" u="sng" spc="-50" dirty="0">
                <a:uFill>
                  <a:solidFill>
                    <a:srgbClr val="17365C"/>
                  </a:solidFill>
                </a:uFill>
                <a:latin typeface="Arial"/>
                <a:cs typeface="Arial"/>
              </a:rPr>
              <a:t> Ayush Gupta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8440" indent="-19621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18440" algn="l"/>
              </a:tabLst>
            </a:pPr>
            <a:r>
              <a:rPr dirty="0"/>
              <a:t>Project</a:t>
            </a:r>
            <a:r>
              <a:rPr spc="-50" dirty="0"/>
              <a:t> </a:t>
            </a:r>
            <a:r>
              <a:rPr spc="-10" dirty="0"/>
              <a:t>Overview</a:t>
            </a:r>
          </a:p>
          <a:p>
            <a:pPr marL="22225" marR="5080" indent="-9525">
              <a:lnSpc>
                <a:spcPct val="109600"/>
              </a:lnSpc>
              <a:spcBef>
                <a:spcPts val="1335"/>
              </a:spcBef>
            </a:pPr>
            <a:r>
              <a:rPr sz="1100" b="0" dirty="0">
                <a:solidFill>
                  <a:srgbClr val="000000"/>
                </a:solidFill>
                <a:latin typeface="Arial MT"/>
                <a:cs typeface="Arial MT"/>
              </a:rPr>
              <a:t>This</a:t>
            </a:r>
            <a:r>
              <a:rPr sz="1100" b="0" spc="-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 MT"/>
                <a:cs typeface="Arial MT"/>
              </a:rPr>
              <a:t>project</a:t>
            </a:r>
            <a:r>
              <a:rPr sz="11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 MT"/>
                <a:cs typeface="Arial MT"/>
              </a:rPr>
              <a:t>analyzes</a:t>
            </a:r>
            <a:r>
              <a:rPr sz="1100"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 MT"/>
                <a:cs typeface="Arial MT"/>
              </a:rPr>
              <a:t>customer</a:t>
            </a:r>
            <a:r>
              <a:rPr sz="11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spc="-10" dirty="0">
                <a:solidFill>
                  <a:srgbClr val="000000"/>
                </a:solidFill>
                <a:latin typeface="Arial MT"/>
                <a:cs typeface="Arial MT"/>
              </a:rPr>
              <a:t>shopping</a:t>
            </a:r>
            <a:r>
              <a:rPr sz="1100"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 MT"/>
                <a:cs typeface="Arial MT"/>
              </a:rPr>
              <a:t>behavior</a:t>
            </a:r>
            <a:r>
              <a:rPr sz="11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 MT"/>
                <a:cs typeface="Arial MT"/>
              </a:rPr>
              <a:t>using</a:t>
            </a:r>
            <a:r>
              <a:rPr sz="11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spc="-10" dirty="0">
                <a:solidFill>
                  <a:srgbClr val="000000"/>
                </a:solidFill>
                <a:latin typeface="Arial MT"/>
                <a:cs typeface="Arial MT"/>
              </a:rPr>
              <a:t>transactional</a:t>
            </a:r>
            <a:r>
              <a:rPr sz="1100"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 MT"/>
                <a:cs typeface="Arial MT"/>
              </a:rPr>
              <a:t>data</a:t>
            </a:r>
            <a:r>
              <a:rPr sz="11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 MT"/>
                <a:cs typeface="Arial MT"/>
              </a:rPr>
              <a:t>from</a:t>
            </a:r>
            <a:r>
              <a:rPr sz="1100"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spc="-10" dirty="0">
                <a:solidFill>
                  <a:srgbClr val="000000"/>
                </a:solidFill>
                <a:latin typeface="Arial MT"/>
                <a:cs typeface="Arial MT"/>
              </a:rPr>
              <a:t>3,900</a:t>
            </a:r>
            <a:r>
              <a:rPr sz="1100" b="0" spc="50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 MT"/>
                <a:cs typeface="Arial MT"/>
              </a:rPr>
              <a:t>purchases</a:t>
            </a:r>
            <a:r>
              <a:rPr sz="11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 MT"/>
                <a:cs typeface="Arial MT"/>
              </a:rPr>
              <a:t>across</a:t>
            </a:r>
            <a:r>
              <a:rPr sz="11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 MT"/>
                <a:cs typeface="Arial MT"/>
              </a:rPr>
              <a:t>various</a:t>
            </a:r>
            <a:r>
              <a:rPr sz="11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 MT"/>
                <a:cs typeface="Arial MT"/>
              </a:rPr>
              <a:t>product</a:t>
            </a:r>
            <a:r>
              <a:rPr sz="11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spc="-10" dirty="0">
                <a:solidFill>
                  <a:srgbClr val="000000"/>
                </a:solidFill>
                <a:latin typeface="Arial MT"/>
                <a:cs typeface="Arial MT"/>
              </a:rPr>
              <a:t>categories.</a:t>
            </a:r>
            <a:r>
              <a:rPr sz="1100"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sz="11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 MT"/>
                <a:cs typeface="Arial MT"/>
              </a:rPr>
              <a:t>goal</a:t>
            </a:r>
            <a:r>
              <a:rPr sz="11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 MT"/>
                <a:cs typeface="Arial MT"/>
              </a:rPr>
              <a:t>is</a:t>
            </a:r>
            <a:r>
              <a:rPr sz="11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 MT"/>
                <a:cs typeface="Arial MT"/>
              </a:rPr>
              <a:t>to</a:t>
            </a:r>
            <a:r>
              <a:rPr sz="11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 MT"/>
                <a:cs typeface="Arial MT"/>
              </a:rPr>
              <a:t>uncover</a:t>
            </a:r>
            <a:r>
              <a:rPr sz="1100"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 MT"/>
                <a:cs typeface="Arial MT"/>
              </a:rPr>
              <a:t>insights</a:t>
            </a:r>
            <a:r>
              <a:rPr sz="11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 MT"/>
                <a:cs typeface="Arial MT"/>
              </a:rPr>
              <a:t>into</a:t>
            </a:r>
            <a:r>
              <a:rPr sz="11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spc="-10" dirty="0">
                <a:solidFill>
                  <a:srgbClr val="000000"/>
                </a:solidFill>
                <a:latin typeface="Arial MT"/>
                <a:cs typeface="Arial MT"/>
              </a:rPr>
              <a:t>spending </a:t>
            </a:r>
            <a:r>
              <a:rPr sz="1100" b="0" dirty="0">
                <a:solidFill>
                  <a:srgbClr val="000000"/>
                </a:solidFill>
                <a:latin typeface="Arial MT"/>
                <a:cs typeface="Arial MT"/>
              </a:rPr>
              <a:t>patterns,</a:t>
            </a:r>
            <a:r>
              <a:rPr sz="1100"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 MT"/>
                <a:cs typeface="Arial MT"/>
              </a:rPr>
              <a:t>customer</a:t>
            </a:r>
            <a:r>
              <a:rPr sz="1100"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 MT"/>
                <a:cs typeface="Arial MT"/>
              </a:rPr>
              <a:t>segments,</a:t>
            </a:r>
            <a:r>
              <a:rPr sz="1100"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 MT"/>
                <a:cs typeface="Arial MT"/>
              </a:rPr>
              <a:t>product</a:t>
            </a:r>
            <a:r>
              <a:rPr sz="1100"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spc="-10" dirty="0">
                <a:solidFill>
                  <a:srgbClr val="000000"/>
                </a:solidFill>
                <a:latin typeface="Arial MT"/>
                <a:cs typeface="Arial MT"/>
              </a:rPr>
              <a:t>preferences,</a:t>
            </a:r>
            <a:r>
              <a:rPr sz="1100"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 MT"/>
                <a:cs typeface="Arial MT"/>
              </a:rPr>
              <a:t>and</a:t>
            </a:r>
            <a:r>
              <a:rPr sz="1100"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spc="-10" dirty="0">
                <a:solidFill>
                  <a:srgbClr val="000000"/>
                </a:solidFill>
                <a:latin typeface="Arial MT"/>
                <a:cs typeface="Arial MT"/>
              </a:rPr>
              <a:t>subscription</a:t>
            </a:r>
            <a:r>
              <a:rPr sz="1100"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 MT"/>
                <a:cs typeface="Arial MT"/>
              </a:rPr>
              <a:t>behavior</a:t>
            </a:r>
            <a:r>
              <a:rPr sz="1100"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 MT"/>
                <a:cs typeface="Arial MT"/>
              </a:rPr>
              <a:t>to</a:t>
            </a:r>
            <a:r>
              <a:rPr sz="1100"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 MT"/>
                <a:cs typeface="Arial MT"/>
              </a:rPr>
              <a:t>guide</a:t>
            </a:r>
            <a:r>
              <a:rPr sz="1100"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spc="-10" dirty="0">
                <a:solidFill>
                  <a:srgbClr val="000000"/>
                </a:solidFill>
                <a:latin typeface="Arial MT"/>
                <a:cs typeface="Arial MT"/>
              </a:rPr>
              <a:t>strategic </a:t>
            </a:r>
            <a:r>
              <a:rPr sz="1100" b="0" dirty="0">
                <a:solidFill>
                  <a:srgbClr val="000000"/>
                </a:solidFill>
                <a:latin typeface="Arial MT"/>
                <a:cs typeface="Arial MT"/>
              </a:rPr>
              <a:t>business</a:t>
            </a:r>
            <a:r>
              <a:rPr sz="1100" b="0" spc="-7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spc="-10" dirty="0">
                <a:solidFill>
                  <a:srgbClr val="000000"/>
                </a:solidFill>
                <a:latin typeface="Arial MT"/>
                <a:cs typeface="Arial MT"/>
              </a:rPr>
              <a:t>decisions.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100">
              <a:latin typeface="Arial MT"/>
              <a:cs typeface="Arial MT"/>
            </a:endParaRPr>
          </a:p>
          <a:p>
            <a:pPr marL="208915" indent="-196215">
              <a:lnSpc>
                <a:spcPct val="100000"/>
              </a:lnSpc>
              <a:buAutoNum type="arabicPeriod" startAt="2"/>
              <a:tabLst>
                <a:tab pos="208915" algn="l"/>
              </a:tabLst>
            </a:pPr>
            <a:r>
              <a:rPr dirty="0"/>
              <a:t>Dataset</a:t>
            </a:r>
            <a:r>
              <a:rPr spc="-50" dirty="0"/>
              <a:t> </a:t>
            </a:r>
            <a:r>
              <a:rPr spc="-10" dirty="0"/>
              <a:t>Summary</a:t>
            </a:r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sz="1100" b="0" dirty="0">
                <a:solidFill>
                  <a:srgbClr val="000000"/>
                </a:solidFill>
                <a:latin typeface="Arial MT"/>
                <a:cs typeface="Arial MT"/>
              </a:rPr>
              <a:t>-</a:t>
            </a:r>
            <a:r>
              <a:rPr sz="1100" b="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 MT"/>
                <a:cs typeface="Arial MT"/>
              </a:rPr>
              <a:t>Rows:</a:t>
            </a:r>
            <a:r>
              <a:rPr sz="1100" b="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spc="-20" dirty="0">
                <a:solidFill>
                  <a:srgbClr val="000000"/>
                </a:solidFill>
                <a:latin typeface="Arial MT"/>
                <a:cs typeface="Arial MT"/>
              </a:rPr>
              <a:t>3,900</a:t>
            </a:r>
            <a:endParaRPr sz="1100">
              <a:latin typeface="Arial MT"/>
              <a:cs typeface="Arial MT"/>
            </a:endParaRPr>
          </a:p>
          <a:p>
            <a:pPr marL="96520" lvl="1" indent="-83820">
              <a:lnSpc>
                <a:spcPct val="100000"/>
              </a:lnSpc>
              <a:spcBef>
                <a:spcPts val="190"/>
              </a:spcBef>
              <a:buChar char="-"/>
              <a:tabLst>
                <a:tab pos="96520" algn="l"/>
              </a:tabLst>
            </a:pPr>
            <a:r>
              <a:rPr sz="1100" dirty="0">
                <a:latin typeface="Arial MT"/>
                <a:cs typeface="Arial MT"/>
              </a:rPr>
              <a:t>Columns:</a:t>
            </a:r>
            <a:r>
              <a:rPr sz="1100" spc="-7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18</a:t>
            </a:r>
            <a:endParaRPr sz="1100">
              <a:latin typeface="Arial MT"/>
              <a:cs typeface="Arial MT"/>
            </a:endParaRPr>
          </a:p>
          <a:p>
            <a:pPr marL="96520" lvl="1" indent="-83820">
              <a:lnSpc>
                <a:spcPct val="100000"/>
              </a:lnSpc>
              <a:spcBef>
                <a:spcPts val="180"/>
              </a:spcBef>
              <a:buChar char="-"/>
              <a:tabLst>
                <a:tab pos="96520" algn="l"/>
              </a:tabLst>
            </a:pPr>
            <a:r>
              <a:rPr sz="1100" dirty="0">
                <a:latin typeface="Arial MT"/>
                <a:cs typeface="Arial MT"/>
              </a:rPr>
              <a:t>Key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Features:</a:t>
            </a:r>
            <a:endParaRPr sz="1100">
              <a:latin typeface="Arial MT"/>
              <a:cs typeface="Arial MT"/>
            </a:endParaRPr>
          </a:p>
          <a:p>
            <a:pPr marL="172720" lvl="2" indent="-83820">
              <a:lnSpc>
                <a:spcPct val="100000"/>
              </a:lnSpc>
              <a:spcBef>
                <a:spcPts val="180"/>
              </a:spcBef>
              <a:buChar char="-"/>
              <a:tabLst>
                <a:tab pos="172720" algn="l"/>
              </a:tabLst>
            </a:pPr>
            <a:r>
              <a:rPr sz="1100" dirty="0">
                <a:latin typeface="Arial MT"/>
                <a:cs typeface="Arial MT"/>
              </a:rPr>
              <a:t>Customer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demographics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(Age,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Gender,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Location,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Subscription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Status)</a:t>
            </a:r>
            <a:endParaRPr sz="1100">
              <a:latin typeface="Arial MT"/>
              <a:cs typeface="Arial MT"/>
            </a:endParaRPr>
          </a:p>
          <a:p>
            <a:pPr marL="22225" marR="160020" lvl="2" indent="150495">
              <a:lnSpc>
                <a:spcPct val="110000"/>
              </a:lnSpc>
              <a:spcBef>
                <a:spcPts val="45"/>
              </a:spcBef>
              <a:buChar char="-"/>
              <a:tabLst>
                <a:tab pos="172720" algn="l"/>
              </a:tabLst>
            </a:pPr>
            <a:r>
              <a:rPr sz="1100" dirty="0">
                <a:latin typeface="Arial MT"/>
                <a:cs typeface="Arial MT"/>
              </a:rPr>
              <a:t>Purchase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details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(Item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Purchased,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Category,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Purchase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Amount,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Season,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Size,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Color)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- </a:t>
            </a:r>
            <a:r>
              <a:rPr sz="1100" spc="-10" dirty="0">
                <a:latin typeface="Arial MT"/>
                <a:cs typeface="Arial MT"/>
              </a:rPr>
              <a:t>Shopping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behavior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(Discount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Applied,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Promo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Code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Used,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Previous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Purchases,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Frequency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of </a:t>
            </a:r>
            <a:r>
              <a:rPr sz="1100" spc="-10" dirty="0">
                <a:latin typeface="Arial MT"/>
                <a:cs typeface="Arial MT"/>
              </a:rPr>
              <a:t>Purchases,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Review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Rating,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Shipping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Type)</a:t>
            </a:r>
            <a:endParaRPr sz="1100">
              <a:latin typeface="Arial MT"/>
              <a:cs typeface="Arial MT"/>
            </a:endParaRPr>
          </a:p>
          <a:p>
            <a:pPr marL="96520" lvl="1" indent="-83820">
              <a:lnSpc>
                <a:spcPct val="100000"/>
              </a:lnSpc>
              <a:spcBef>
                <a:spcPts val="165"/>
              </a:spcBef>
              <a:buChar char="-"/>
              <a:tabLst>
                <a:tab pos="96520" algn="l"/>
              </a:tabLst>
            </a:pPr>
            <a:r>
              <a:rPr sz="1100" dirty="0">
                <a:latin typeface="Arial MT"/>
                <a:cs typeface="Arial MT"/>
              </a:rPr>
              <a:t>Missing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Data: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37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values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Review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Rating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column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100">
              <a:latin typeface="Arial MT"/>
              <a:cs typeface="Arial MT"/>
            </a:endParaRPr>
          </a:p>
          <a:p>
            <a:pPr marL="218440" indent="-196215">
              <a:lnSpc>
                <a:spcPct val="100000"/>
              </a:lnSpc>
              <a:buAutoNum type="arabicPeriod" startAt="3"/>
              <a:tabLst>
                <a:tab pos="218440" algn="l"/>
              </a:tabLst>
            </a:pPr>
            <a:r>
              <a:rPr dirty="0"/>
              <a:t>Exploratory</a:t>
            </a:r>
            <a:r>
              <a:rPr spc="-50" dirty="0"/>
              <a:t> </a:t>
            </a:r>
            <a:r>
              <a:rPr dirty="0"/>
              <a:t>Data</a:t>
            </a:r>
            <a:r>
              <a:rPr spc="-45" dirty="0"/>
              <a:t> </a:t>
            </a:r>
            <a:r>
              <a:rPr dirty="0"/>
              <a:t>Analysis</a:t>
            </a:r>
            <a:r>
              <a:rPr spc="-45" dirty="0"/>
              <a:t> </a:t>
            </a:r>
            <a:r>
              <a:rPr dirty="0"/>
              <a:t>using</a:t>
            </a:r>
            <a:r>
              <a:rPr spc="-45" dirty="0"/>
              <a:t> </a:t>
            </a:r>
            <a:r>
              <a:rPr spc="-10" dirty="0"/>
              <a:t>Python</a:t>
            </a: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1100" b="0" dirty="0">
                <a:solidFill>
                  <a:srgbClr val="000000"/>
                </a:solidFill>
                <a:latin typeface="Arial MT"/>
                <a:cs typeface="Arial MT"/>
              </a:rPr>
              <a:t>We</a:t>
            </a:r>
            <a:r>
              <a:rPr sz="1100" b="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 MT"/>
                <a:cs typeface="Arial MT"/>
              </a:rPr>
              <a:t>began</a:t>
            </a:r>
            <a:r>
              <a:rPr sz="1100" b="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 MT"/>
                <a:cs typeface="Arial MT"/>
              </a:rPr>
              <a:t>with</a:t>
            </a:r>
            <a:r>
              <a:rPr sz="1100" b="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 MT"/>
                <a:cs typeface="Arial MT"/>
              </a:rPr>
              <a:t>data</a:t>
            </a:r>
            <a:r>
              <a:rPr sz="1100" b="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spc="-10" dirty="0">
                <a:solidFill>
                  <a:srgbClr val="000000"/>
                </a:solidFill>
                <a:latin typeface="Arial MT"/>
                <a:cs typeface="Arial MT"/>
              </a:rPr>
              <a:t>preparation</a:t>
            </a:r>
            <a:r>
              <a:rPr sz="1100" b="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 MT"/>
                <a:cs typeface="Arial MT"/>
              </a:rPr>
              <a:t>and</a:t>
            </a:r>
            <a:r>
              <a:rPr sz="1100" b="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spc="-10" dirty="0">
                <a:solidFill>
                  <a:srgbClr val="000000"/>
                </a:solidFill>
                <a:latin typeface="Arial MT"/>
                <a:cs typeface="Arial MT"/>
              </a:rPr>
              <a:t>cleaning</a:t>
            </a:r>
            <a:r>
              <a:rPr sz="1100" b="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 MT"/>
                <a:cs typeface="Arial MT"/>
              </a:rPr>
              <a:t>in</a:t>
            </a:r>
            <a:r>
              <a:rPr sz="1100" b="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b="0" spc="-10" dirty="0">
                <a:solidFill>
                  <a:srgbClr val="000000"/>
                </a:solidFill>
                <a:latin typeface="Arial MT"/>
                <a:cs typeface="Arial MT"/>
              </a:rPr>
              <a:t>Python: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100">
              <a:latin typeface="Arial MT"/>
              <a:cs typeface="Arial MT"/>
            </a:endParaRPr>
          </a:p>
          <a:p>
            <a:pPr marL="372110" lvl="1" indent="-152400">
              <a:lnSpc>
                <a:spcPct val="100000"/>
              </a:lnSpc>
              <a:spcBef>
                <a:spcPts val="5"/>
              </a:spcBef>
              <a:buFont typeface="Arial MT"/>
              <a:buChar char="●"/>
              <a:tabLst>
                <a:tab pos="372110" algn="l"/>
              </a:tabLst>
            </a:pPr>
            <a:r>
              <a:rPr sz="1100" b="1" dirty="0">
                <a:latin typeface="Arial"/>
                <a:cs typeface="Arial"/>
              </a:rPr>
              <a:t>Data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Loading: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Imported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dataset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using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78037"/>
                </a:solidFill>
                <a:latin typeface="Courier New"/>
                <a:cs typeface="Courier New"/>
              </a:rPr>
              <a:t>pandas</a:t>
            </a:r>
            <a:r>
              <a:rPr sz="1100" spc="-10" dirty="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320"/>
              </a:spcBef>
              <a:buFont typeface="Arial MT"/>
              <a:buChar char="●"/>
            </a:pPr>
            <a:endParaRPr sz="1100">
              <a:latin typeface="Arial MT"/>
              <a:cs typeface="Arial MT"/>
            </a:endParaRPr>
          </a:p>
          <a:p>
            <a:pPr marL="372110" marR="503555" lvl="1" indent="-152400">
              <a:lnSpc>
                <a:spcPct val="116300"/>
              </a:lnSpc>
              <a:buFont typeface="Arial MT"/>
              <a:buChar char="●"/>
              <a:tabLst>
                <a:tab pos="469900" algn="l"/>
              </a:tabLst>
            </a:pPr>
            <a:r>
              <a:rPr sz="1100" b="1" dirty="0">
                <a:latin typeface="Arial"/>
                <a:cs typeface="Arial"/>
              </a:rPr>
              <a:t>Initial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Exploration: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Used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78037"/>
                </a:solidFill>
                <a:latin typeface="Courier New"/>
                <a:cs typeface="Courier New"/>
              </a:rPr>
              <a:t>df.info()</a:t>
            </a:r>
            <a:r>
              <a:rPr sz="1100" spc="-75" dirty="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check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structure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78037"/>
                </a:solidFill>
                <a:latin typeface="Courier New"/>
                <a:cs typeface="Courier New"/>
              </a:rPr>
              <a:t>.describe()</a:t>
            </a:r>
            <a:r>
              <a:rPr sz="1100" spc="-75" dirty="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sz="1100" spc="-25" dirty="0">
                <a:latin typeface="Arial MT"/>
                <a:cs typeface="Arial MT"/>
              </a:rPr>
              <a:t>for 	</a:t>
            </a:r>
            <a:r>
              <a:rPr sz="1100" dirty="0">
                <a:latin typeface="Arial MT"/>
                <a:cs typeface="Arial MT"/>
              </a:rPr>
              <a:t>summary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statistics.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3251" y="7044824"/>
            <a:ext cx="6419849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1501" y="1197963"/>
            <a:ext cx="5487035" cy="354417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1285" marR="34925" indent="-121285" algn="ctr">
              <a:lnSpc>
                <a:spcPct val="100000"/>
              </a:lnSpc>
              <a:spcBef>
                <a:spcPts val="355"/>
              </a:spcBef>
              <a:buSzPct val="77272"/>
              <a:buFont typeface="Arial MT"/>
              <a:buChar char="●"/>
              <a:tabLst>
                <a:tab pos="121285" algn="l"/>
              </a:tabLst>
            </a:pPr>
            <a:r>
              <a:rPr sz="1100" b="1" dirty="0">
                <a:latin typeface="Arial"/>
                <a:cs typeface="Arial"/>
              </a:rPr>
              <a:t>Missing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Data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Handling: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Checked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null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values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imputed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missing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values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the</a:t>
            </a:r>
            <a:endParaRPr sz="1100" dirty="0">
              <a:latin typeface="Arial MT"/>
              <a:cs typeface="Arial MT"/>
            </a:endParaRPr>
          </a:p>
          <a:p>
            <a:pPr marR="34925" algn="ctr">
              <a:lnSpc>
                <a:spcPct val="100000"/>
              </a:lnSpc>
              <a:spcBef>
                <a:spcPts val="254"/>
              </a:spcBef>
            </a:pPr>
            <a:r>
              <a:rPr sz="1100" dirty="0">
                <a:solidFill>
                  <a:srgbClr val="178037"/>
                </a:solidFill>
                <a:latin typeface="Courier New"/>
                <a:cs typeface="Courier New"/>
              </a:rPr>
              <a:t>Review</a:t>
            </a:r>
            <a:r>
              <a:rPr sz="1100" spc="-85" dirty="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78037"/>
                </a:solidFill>
                <a:latin typeface="Courier New"/>
                <a:cs typeface="Courier New"/>
              </a:rPr>
              <a:t>Rating</a:t>
            </a:r>
            <a:r>
              <a:rPr sz="1100" spc="-85" dirty="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latin typeface="Arial MT"/>
                <a:cs typeface="Arial MT"/>
              </a:rPr>
              <a:t>column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using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median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rating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each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category.</a:t>
            </a:r>
            <a:endParaRPr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100" dirty="0">
              <a:latin typeface="Arial MT"/>
              <a:cs typeface="Arial MT"/>
            </a:endParaRPr>
          </a:p>
          <a:p>
            <a:pPr marL="133985" marR="5080" indent="-133350">
              <a:lnSpc>
                <a:spcPct val="107500"/>
              </a:lnSpc>
              <a:buSzPct val="86363"/>
              <a:buFont typeface="Arial MT"/>
              <a:buChar char="●"/>
              <a:tabLst>
                <a:tab pos="231775" algn="l"/>
              </a:tabLst>
            </a:pPr>
            <a:r>
              <a:rPr sz="1100" b="1" dirty="0">
                <a:latin typeface="Arial"/>
                <a:cs typeface="Arial"/>
              </a:rPr>
              <a:t>Column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Standardization: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Renamed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columns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b="1" dirty="0">
                <a:latin typeface="Arial"/>
                <a:cs typeface="Arial"/>
              </a:rPr>
              <a:t>snake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case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better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readability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and 	</a:t>
            </a:r>
            <a:r>
              <a:rPr sz="1100" spc="-10" dirty="0">
                <a:latin typeface="Arial MT"/>
                <a:cs typeface="Arial MT"/>
              </a:rPr>
              <a:t>documentation.</a:t>
            </a:r>
            <a:endParaRPr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5"/>
              </a:spcBef>
              <a:buFont typeface="Arial MT"/>
              <a:buChar char="●"/>
            </a:pPr>
            <a:endParaRPr sz="1100" dirty="0">
              <a:latin typeface="Arial MT"/>
              <a:cs typeface="Arial MT"/>
            </a:endParaRPr>
          </a:p>
          <a:p>
            <a:pPr marL="133985" indent="-133350">
              <a:lnSpc>
                <a:spcPct val="100000"/>
              </a:lnSpc>
              <a:buSzPct val="86363"/>
              <a:buFont typeface="Arial MT"/>
              <a:buChar char="●"/>
              <a:tabLst>
                <a:tab pos="133985" algn="l"/>
              </a:tabLst>
            </a:pPr>
            <a:r>
              <a:rPr sz="1100" b="1" dirty="0">
                <a:latin typeface="Arial"/>
                <a:cs typeface="Arial"/>
              </a:rPr>
              <a:t>Feature</a:t>
            </a:r>
            <a:r>
              <a:rPr sz="1100" b="1" spc="-6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Engineering: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5"/>
              </a:spcBef>
              <a:buFont typeface="Arial MT"/>
              <a:buChar char="●"/>
            </a:pPr>
            <a:endParaRPr sz="1100" dirty="0">
              <a:latin typeface="Arial"/>
              <a:cs typeface="Arial"/>
            </a:endParaRPr>
          </a:p>
          <a:p>
            <a:pPr marL="591185" lvl="1" indent="-152400">
              <a:lnSpc>
                <a:spcPct val="100000"/>
              </a:lnSpc>
              <a:buChar char="○"/>
              <a:tabLst>
                <a:tab pos="591185" algn="l"/>
              </a:tabLst>
            </a:pPr>
            <a:r>
              <a:rPr sz="1100" dirty="0">
                <a:latin typeface="Arial MT"/>
                <a:cs typeface="Arial MT"/>
              </a:rPr>
              <a:t>Created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b="1" spc="-10" dirty="0">
                <a:latin typeface="Arial"/>
                <a:cs typeface="Arial"/>
              </a:rPr>
              <a:t>age_group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column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by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binning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customer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ages.</a:t>
            </a:r>
            <a:endParaRPr sz="11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340"/>
              </a:spcBef>
              <a:buFont typeface="Arial MT"/>
              <a:buChar char="○"/>
            </a:pPr>
            <a:endParaRPr sz="1100" dirty="0">
              <a:latin typeface="Arial MT"/>
              <a:cs typeface="Arial MT"/>
            </a:endParaRPr>
          </a:p>
          <a:p>
            <a:pPr marL="591185" lvl="1" indent="-152400">
              <a:lnSpc>
                <a:spcPct val="100000"/>
              </a:lnSpc>
              <a:buChar char="○"/>
              <a:tabLst>
                <a:tab pos="591185" algn="l"/>
              </a:tabLst>
            </a:pPr>
            <a:r>
              <a:rPr sz="1100" dirty="0">
                <a:latin typeface="Arial MT"/>
                <a:cs typeface="Arial MT"/>
              </a:rPr>
              <a:t>Created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b="1" spc="-10" dirty="0">
                <a:latin typeface="Arial"/>
                <a:cs typeface="Arial"/>
              </a:rPr>
              <a:t>purchase_frequency_days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column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from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purchase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data.</a:t>
            </a:r>
            <a:endParaRPr sz="11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459"/>
              </a:spcBef>
              <a:buFont typeface="Arial MT"/>
              <a:buChar char="○"/>
            </a:pPr>
            <a:endParaRPr sz="1100" dirty="0">
              <a:latin typeface="Arial MT"/>
              <a:cs typeface="Arial MT"/>
            </a:endParaRPr>
          </a:p>
          <a:p>
            <a:pPr marL="133985" indent="-133350">
              <a:lnSpc>
                <a:spcPct val="100000"/>
              </a:lnSpc>
              <a:buSzPct val="86363"/>
              <a:buFont typeface="Arial MT"/>
              <a:buChar char="●"/>
              <a:tabLst>
                <a:tab pos="133985" algn="l"/>
              </a:tabLst>
            </a:pPr>
            <a:r>
              <a:rPr sz="1100" b="1" dirty="0">
                <a:latin typeface="Arial"/>
                <a:cs typeface="Arial"/>
              </a:rPr>
              <a:t>Data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Consistency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Check: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 MT"/>
                <a:cs typeface="Arial MT"/>
              </a:rPr>
              <a:t>Verified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if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78037"/>
                </a:solidFill>
                <a:latin typeface="Courier New"/>
                <a:cs typeface="Courier New"/>
              </a:rPr>
              <a:t>discount_applied</a:t>
            </a:r>
            <a:r>
              <a:rPr sz="1100" spc="-55" dirty="0">
                <a:solidFill>
                  <a:srgbClr val="178037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78037"/>
                </a:solidFill>
                <a:latin typeface="Courier New"/>
                <a:cs typeface="Courier New"/>
              </a:rPr>
              <a:t>promo_code_used</a:t>
            </a:r>
            <a:endParaRPr sz="1100" dirty="0">
              <a:latin typeface="Courier New"/>
              <a:cs typeface="Courier New"/>
            </a:endParaRPr>
          </a:p>
          <a:p>
            <a:pPr marL="231775">
              <a:lnSpc>
                <a:spcPct val="100000"/>
              </a:lnSpc>
              <a:spcBef>
                <a:spcPts val="385"/>
              </a:spcBef>
            </a:pPr>
            <a:r>
              <a:rPr sz="1100" dirty="0">
                <a:latin typeface="Arial MT"/>
                <a:cs typeface="Arial MT"/>
              </a:rPr>
              <a:t>were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redundant;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dropped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78037"/>
                </a:solidFill>
                <a:latin typeface="Courier New"/>
                <a:cs typeface="Courier New"/>
              </a:rPr>
              <a:t>promo_code_used</a:t>
            </a:r>
            <a:r>
              <a:rPr sz="1100" spc="-10" dirty="0">
                <a:latin typeface="Arial MT"/>
                <a:cs typeface="Arial MT"/>
              </a:rPr>
              <a:t>.</a:t>
            </a:r>
            <a:endParaRPr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100" dirty="0">
              <a:latin typeface="Arial MT"/>
              <a:cs typeface="Arial MT"/>
            </a:endParaRPr>
          </a:p>
          <a:p>
            <a:pPr marL="133985" marR="205740" indent="-133350">
              <a:lnSpc>
                <a:spcPct val="107700"/>
              </a:lnSpc>
              <a:spcBef>
                <a:spcPts val="5"/>
              </a:spcBef>
              <a:buSzPct val="86363"/>
              <a:buFont typeface="Arial MT"/>
              <a:buChar char="●"/>
              <a:tabLst>
                <a:tab pos="241300" algn="l"/>
              </a:tabLst>
            </a:pPr>
            <a:r>
              <a:rPr sz="1100" b="1" spc="-10" dirty="0">
                <a:latin typeface="Arial"/>
                <a:cs typeface="Arial"/>
              </a:rPr>
              <a:t>Database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Integration: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lang="en-US" sz="1100" dirty="0"/>
              <a:t>Processed and structured cleaned customer data for SQL-based analytical querying and reporting.</a:t>
            </a:r>
          </a:p>
          <a:p>
            <a:pPr marL="133985" marR="205740" indent="-133350">
              <a:lnSpc>
                <a:spcPct val="107700"/>
              </a:lnSpc>
              <a:spcBef>
                <a:spcPts val="5"/>
              </a:spcBef>
              <a:buSzPct val="86363"/>
              <a:buFont typeface="Arial MT"/>
              <a:buChar char="●"/>
              <a:tabLst>
                <a:tab pos="241300" algn="l"/>
              </a:tabLst>
            </a:pPr>
            <a:endParaRPr sz="11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3376" y="4996946"/>
            <a:ext cx="525335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6540" indent="-196215">
              <a:lnSpc>
                <a:spcPct val="100000"/>
              </a:lnSpc>
              <a:spcBef>
                <a:spcPts val="100"/>
              </a:spcBef>
              <a:buAutoNum type="arabicPeriod" startAt="4"/>
              <a:tabLst>
                <a:tab pos="256540" algn="l"/>
              </a:tabLst>
            </a:pPr>
            <a:r>
              <a:rPr sz="1400" b="1" dirty="0">
                <a:solidFill>
                  <a:srgbClr val="366090"/>
                </a:solidFill>
                <a:latin typeface="Arial"/>
                <a:cs typeface="Arial"/>
              </a:rPr>
              <a:t>Data</a:t>
            </a:r>
            <a:r>
              <a:rPr sz="1400" b="1" spc="-40" dirty="0">
                <a:solidFill>
                  <a:srgbClr val="36609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66090"/>
                </a:solidFill>
                <a:latin typeface="Arial"/>
                <a:cs typeface="Arial"/>
              </a:rPr>
              <a:t>Analysis</a:t>
            </a:r>
            <a:r>
              <a:rPr sz="1400" b="1" spc="-35" dirty="0">
                <a:solidFill>
                  <a:srgbClr val="36609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66090"/>
                </a:solidFill>
                <a:latin typeface="Arial"/>
                <a:cs typeface="Arial"/>
              </a:rPr>
              <a:t>using</a:t>
            </a:r>
            <a:r>
              <a:rPr sz="1400" b="1" spc="-40" dirty="0">
                <a:solidFill>
                  <a:srgbClr val="36609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66090"/>
                </a:solidFill>
                <a:latin typeface="Arial"/>
                <a:cs typeface="Arial"/>
              </a:rPr>
              <a:t>SQL</a:t>
            </a:r>
            <a:r>
              <a:rPr sz="1400" b="1" spc="-35" dirty="0">
                <a:solidFill>
                  <a:srgbClr val="36609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66090"/>
                </a:solidFill>
                <a:latin typeface="Arial"/>
                <a:cs typeface="Arial"/>
              </a:rPr>
              <a:t>(Business</a:t>
            </a:r>
            <a:r>
              <a:rPr sz="1400" b="1" spc="-35" dirty="0">
                <a:solidFill>
                  <a:srgbClr val="36609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66090"/>
                </a:solidFill>
                <a:latin typeface="Arial"/>
                <a:cs typeface="Arial"/>
              </a:rPr>
              <a:t>Transactions)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1100" dirty="0">
                <a:latin typeface="Arial MT"/>
                <a:cs typeface="Arial MT"/>
              </a:rPr>
              <a:t>We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performed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structured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analysis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SQL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answer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key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business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questions:</a:t>
            </a:r>
            <a:endParaRPr sz="1100" dirty="0">
              <a:latin typeface="Arial MT"/>
              <a:cs typeface="Arial MT"/>
            </a:endParaRPr>
          </a:p>
          <a:p>
            <a:pPr marL="403860" marR="5080" lvl="1" indent="-153035">
              <a:lnSpc>
                <a:spcPct val="112100"/>
              </a:lnSpc>
              <a:spcBef>
                <a:spcPts val="1230"/>
              </a:spcBef>
              <a:buFont typeface="Arial MT"/>
              <a:buAutoNum type="arabicPeriod"/>
              <a:tabLst>
                <a:tab pos="469900" algn="l"/>
              </a:tabLst>
            </a:pPr>
            <a:r>
              <a:rPr sz="1100" b="1" spc="-10" dirty="0">
                <a:latin typeface="Arial"/>
                <a:cs typeface="Arial"/>
              </a:rPr>
              <a:t>Revenue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by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Gender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–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Compared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total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revenue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generated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by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male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vs.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female 	customers.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1976" y="7162088"/>
            <a:ext cx="5379085" cy="386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7500"/>
              </a:lnSpc>
              <a:spcBef>
                <a:spcPts val="100"/>
              </a:spcBef>
            </a:pPr>
            <a:r>
              <a:rPr sz="1100" dirty="0">
                <a:latin typeface="Arial MT"/>
                <a:cs typeface="Arial MT"/>
              </a:rPr>
              <a:t>2.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b="1" spc="-10" dirty="0">
                <a:latin typeface="Arial"/>
                <a:cs typeface="Arial"/>
              </a:rPr>
              <a:t>High-Spending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Discount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Users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–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Identified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customers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who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discounts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still </a:t>
            </a:r>
            <a:r>
              <a:rPr sz="1100" dirty="0">
                <a:latin typeface="Arial MT"/>
                <a:cs typeface="Arial MT"/>
              </a:rPr>
              <a:t>spent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above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average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purchase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amount.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1376" y="6144486"/>
            <a:ext cx="1904999" cy="8477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1976" y="4221198"/>
            <a:ext cx="54775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Arial MT"/>
                <a:cs typeface="Arial MT"/>
              </a:rPr>
              <a:t>3.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b="1" spc="-30" dirty="0">
                <a:latin typeface="Arial"/>
                <a:cs typeface="Arial"/>
              </a:rPr>
              <a:t>Top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5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Products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by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Rating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–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Found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highest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average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review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ratings.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1976" y="6122389"/>
            <a:ext cx="5089525" cy="387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8000"/>
              </a:lnSpc>
              <a:spcBef>
                <a:spcPts val="100"/>
              </a:spcBef>
            </a:pPr>
            <a:r>
              <a:rPr sz="1100" dirty="0">
                <a:latin typeface="Arial MT"/>
                <a:cs typeface="Arial MT"/>
              </a:rPr>
              <a:t>4.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b="1" spc="-10" dirty="0">
                <a:latin typeface="Arial"/>
                <a:cs typeface="Arial"/>
              </a:rPr>
              <a:t>Shipping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Type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Comparison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–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Compared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average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purchase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amounts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between </a:t>
            </a:r>
            <a:r>
              <a:rPr sz="1100" dirty="0">
                <a:latin typeface="Arial MT"/>
                <a:cs typeface="Arial MT"/>
              </a:rPr>
              <a:t>Standard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Express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shipping.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1976" y="8101938"/>
            <a:ext cx="5271135" cy="398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11300"/>
              </a:lnSpc>
              <a:spcBef>
                <a:spcPts val="100"/>
              </a:spcBef>
            </a:pPr>
            <a:r>
              <a:rPr sz="1100" dirty="0">
                <a:latin typeface="Arial MT"/>
                <a:cs typeface="Arial MT"/>
              </a:rPr>
              <a:t>5.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b="1" spc="-10" dirty="0">
                <a:latin typeface="Arial"/>
                <a:cs typeface="Arial"/>
              </a:rPr>
              <a:t>Subscribers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vs.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Non-Subscribers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–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Compared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average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spend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total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revenue </a:t>
            </a:r>
            <a:r>
              <a:rPr sz="1100" dirty="0">
                <a:latin typeface="Arial MT"/>
                <a:cs typeface="Arial MT"/>
              </a:rPr>
              <a:t>across</a:t>
            </a:r>
            <a:r>
              <a:rPr sz="1100" spc="-10" dirty="0">
                <a:latin typeface="Arial MT"/>
                <a:cs typeface="Arial MT"/>
              </a:rPr>
              <a:t> subscription status.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6151" y="1112418"/>
            <a:ext cx="2695575" cy="27431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1376" y="4429986"/>
            <a:ext cx="3038475" cy="15144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11376" y="6722643"/>
            <a:ext cx="3695700" cy="857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1976" y="2112363"/>
            <a:ext cx="5503545" cy="387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8000"/>
              </a:lnSpc>
              <a:spcBef>
                <a:spcPts val="100"/>
              </a:spcBef>
            </a:pPr>
            <a:r>
              <a:rPr sz="1100" dirty="0">
                <a:latin typeface="Arial MT"/>
                <a:cs typeface="Arial MT"/>
              </a:rPr>
              <a:t>6.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b="1" spc="-10" dirty="0">
                <a:latin typeface="Arial"/>
                <a:cs typeface="Arial"/>
              </a:rPr>
              <a:t>Discount-Dependent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Products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–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Identified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5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highest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percentage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of </a:t>
            </a:r>
            <a:r>
              <a:rPr sz="1100" spc="-10" dirty="0">
                <a:latin typeface="Arial MT"/>
                <a:cs typeface="Arial MT"/>
              </a:rPr>
              <a:t>discounted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purchases.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1501" y="4338839"/>
            <a:ext cx="5177155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775" marR="5080" indent="-219075">
              <a:lnSpc>
                <a:spcPct val="111500"/>
              </a:lnSpc>
              <a:spcBef>
                <a:spcPts val="100"/>
              </a:spcBef>
            </a:pPr>
            <a:r>
              <a:rPr sz="1100" dirty="0">
                <a:latin typeface="Arial MT"/>
                <a:cs typeface="Arial MT"/>
              </a:rPr>
              <a:t>7.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b="1" dirty="0">
                <a:latin typeface="Arial"/>
                <a:cs typeface="Arial"/>
              </a:rPr>
              <a:t>Customer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Segmentation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–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Classified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customers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New,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Returning,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Loyal </a:t>
            </a:r>
            <a:r>
              <a:rPr sz="1100" dirty="0">
                <a:latin typeface="Arial MT"/>
                <a:cs typeface="Arial MT"/>
              </a:rPr>
              <a:t>segments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based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purchase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history.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1976" y="6065239"/>
            <a:ext cx="5190490" cy="387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8000"/>
              </a:lnSpc>
              <a:spcBef>
                <a:spcPts val="100"/>
              </a:spcBef>
            </a:pPr>
            <a:r>
              <a:rPr sz="1100" dirty="0">
                <a:latin typeface="Arial MT"/>
                <a:cs typeface="Arial MT"/>
              </a:rPr>
              <a:t>8.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b="1" spc="-30" dirty="0">
                <a:latin typeface="Arial"/>
                <a:cs typeface="Arial"/>
              </a:rPr>
              <a:t>Top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3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Products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per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Category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–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Listed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most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purchased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within</a:t>
            </a:r>
            <a:r>
              <a:rPr sz="1100" spc="-20" dirty="0">
                <a:latin typeface="Arial MT"/>
                <a:cs typeface="Arial MT"/>
              </a:rPr>
              <a:t> each </a:t>
            </a:r>
            <a:r>
              <a:rPr sz="1100" spc="-10" dirty="0">
                <a:latin typeface="Arial MT"/>
                <a:cs typeface="Arial MT"/>
              </a:rPr>
              <a:t>category.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800" y="960025"/>
            <a:ext cx="5867400" cy="9525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1376" y="2560218"/>
            <a:ext cx="2781300" cy="14382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11376" y="4798597"/>
            <a:ext cx="3114675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1976" y="3742083"/>
            <a:ext cx="5957570" cy="35814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241300" marR="5080" indent="-228600">
              <a:lnSpc>
                <a:spcPts val="1300"/>
              </a:lnSpc>
              <a:spcBef>
                <a:spcPts val="160"/>
              </a:spcBef>
            </a:pPr>
            <a:r>
              <a:rPr sz="1100" dirty="0">
                <a:latin typeface="Arial MT"/>
                <a:cs typeface="Arial MT"/>
              </a:rPr>
              <a:t>9.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b="1" dirty="0">
                <a:latin typeface="Arial"/>
                <a:cs typeface="Arial"/>
              </a:rPr>
              <a:t>Repeat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Buyers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&amp;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Subscriptions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–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Checked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whether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customers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&gt;5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purchases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more </a:t>
            </a:r>
            <a:r>
              <a:rPr sz="1100" dirty="0">
                <a:latin typeface="Arial MT"/>
                <a:cs typeface="Arial MT"/>
              </a:rPr>
              <a:t>likely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subscribe.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1976" y="5240373"/>
            <a:ext cx="54267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Arial MT"/>
                <a:cs typeface="Arial MT"/>
              </a:rPr>
              <a:t>10.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b="1" spc="-10" dirty="0">
                <a:latin typeface="Arial"/>
                <a:cs typeface="Arial"/>
              </a:rPr>
              <a:t>Revenue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by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Age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Group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–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Calculated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total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revenue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contribution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each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age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group.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2901" y="6834036"/>
            <a:ext cx="5017770" cy="675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366090"/>
                </a:solidFill>
                <a:latin typeface="Arial"/>
                <a:cs typeface="Arial"/>
              </a:rPr>
              <a:t>5.</a:t>
            </a:r>
            <a:r>
              <a:rPr sz="1400" b="1" spc="-35" dirty="0">
                <a:solidFill>
                  <a:srgbClr val="36609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66090"/>
                </a:solidFill>
                <a:latin typeface="Arial"/>
                <a:cs typeface="Arial"/>
              </a:rPr>
              <a:t>Dashboard</a:t>
            </a:r>
            <a:r>
              <a:rPr sz="1400" b="1" spc="-30" dirty="0">
                <a:solidFill>
                  <a:srgbClr val="36609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66090"/>
                </a:solidFill>
                <a:latin typeface="Arial"/>
                <a:cs typeface="Arial"/>
              </a:rPr>
              <a:t>in</a:t>
            </a:r>
            <a:r>
              <a:rPr sz="1400" b="1" spc="-30" dirty="0">
                <a:solidFill>
                  <a:srgbClr val="36609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366090"/>
                </a:solidFill>
                <a:latin typeface="Arial"/>
                <a:cs typeface="Arial"/>
              </a:rPr>
              <a:t>Power</a:t>
            </a:r>
            <a:r>
              <a:rPr sz="1400" b="1" spc="-30" dirty="0">
                <a:solidFill>
                  <a:srgbClr val="366090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366090"/>
                </a:solidFill>
                <a:latin typeface="Arial"/>
                <a:cs typeface="Arial"/>
              </a:rPr>
              <a:t>BI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spc="-20" dirty="0">
                <a:latin typeface="Arial MT"/>
                <a:cs typeface="Arial MT"/>
              </a:rPr>
              <a:t>Finally,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built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interactive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dashboard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b="1" dirty="0">
                <a:latin typeface="Arial"/>
                <a:cs typeface="Arial"/>
              </a:rPr>
              <a:t>Power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BI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present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insights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visually.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1376" y="960022"/>
            <a:ext cx="3952875" cy="25336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1376" y="4150890"/>
            <a:ext cx="2676525" cy="8763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11376" y="5449161"/>
            <a:ext cx="2247900" cy="10953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2901" y="5099964"/>
            <a:ext cx="5765165" cy="2353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915" indent="-196215">
              <a:lnSpc>
                <a:spcPct val="100000"/>
              </a:lnSpc>
              <a:spcBef>
                <a:spcPts val="100"/>
              </a:spcBef>
              <a:buAutoNum type="arabicPeriod" startAt="6"/>
              <a:tabLst>
                <a:tab pos="208915" algn="l"/>
              </a:tabLst>
            </a:pPr>
            <a:r>
              <a:rPr sz="1400" b="1" dirty="0">
                <a:solidFill>
                  <a:srgbClr val="366090"/>
                </a:solidFill>
                <a:latin typeface="Arial"/>
                <a:cs typeface="Arial"/>
              </a:rPr>
              <a:t>Business</a:t>
            </a:r>
            <a:r>
              <a:rPr sz="1400" b="1" spc="-55" dirty="0">
                <a:solidFill>
                  <a:srgbClr val="36609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66090"/>
                </a:solidFill>
                <a:latin typeface="Arial"/>
                <a:cs typeface="Arial"/>
              </a:rPr>
              <a:t>Recommendations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5"/>
              </a:spcBef>
              <a:buClr>
                <a:srgbClr val="366090"/>
              </a:buClr>
              <a:buFont typeface="Arial"/>
              <a:buAutoNum type="arabicPeriod" startAt="6"/>
            </a:pPr>
            <a:endParaRPr sz="1400">
              <a:latin typeface="Arial"/>
              <a:cs typeface="Arial"/>
            </a:endParaRPr>
          </a:p>
          <a:p>
            <a:pPr marL="362585" lvl="1" indent="-152400">
              <a:lnSpc>
                <a:spcPts val="1300"/>
              </a:lnSpc>
              <a:buFont typeface="Arial MT"/>
              <a:buChar char="●"/>
              <a:tabLst>
                <a:tab pos="362585" algn="l"/>
              </a:tabLst>
            </a:pPr>
            <a:r>
              <a:rPr sz="1100" b="1" dirty="0">
                <a:latin typeface="Arial"/>
                <a:cs typeface="Arial"/>
              </a:rPr>
              <a:t>Boost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Subscriptions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–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Promote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exclusive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benefits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subscribers.</a:t>
            </a:r>
            <a:endParaRPr sz="1100">
              <a:latin typeface="Arial MT"/>
              <a:cs typeface="Arial MT"/>
            </a:endParaRPr>
          </a:p>
          <a:p>
            <a:pPr marL="362585" lvl="1" indent="-152400">
              <a:lnSpc>
                <a:spcPts val="1300"/>
              </a:lnSpc>
              <a:buFont typeface="Arial MT"/>
              <a:buChar char="●"/>
              <a:tabLst>
                <a:tab pos="362585" algn="l"/>
              </a:tabLst>
            </a:pPr>
            <a:r>
              <a:rPr sz="1100" b="1" dirty="0">
                <a:latin typeface="Arial"/>
                <a:cs typeface="Arial"/>
              </a:rPr>
              <a:t>Customer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Loyalty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Programs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–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Reward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repeat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buyers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move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them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into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“Loyal”</a:t>
            </a:r>
            <a:endParaRPr sz="1100">
              <a:latin typeface="Arial MT"/>
              <a:cs typeface="Arial MT"/>
            </a:endParaRPr>
          </a:p>
          <a:p>
            <a:pPr marL="460375">
              <a:lnSpc>
                <a:spcPct val="100000"/>
              </a:lnSpc>
              <a:spcBef>
                <a:spcPts val="105"/>
              </a:spcBef>
            </a:pPr>
            <a:r>
              <a:rPr sz="1100" spc="-10" dirty="0">
                <a:latin typeface="Arial MT"/>
                <a:cs typeface="Arial MT"/>
              </a:rPr>
              <a:t>segment.</a:t>
            </a:r>
            <a:endParaRPr sz="1100">
              <a:latin typeface="Arial MT"/>
              <a:cs typeface="Arial MT"/>
            </a:endParaRPr>
          </a:p>
          <a:p>
            <a:pPr marL="241300" marR="412750" lvl="1" indent="-31115">
              <a:lnSpc>
                <a:spcPct val="220500"/>
              </a:lnSpc>
              <a:spcBef>
                <a:spcPts val="30"/>
              </a:spcBef>
              <a:buFont typeface="Arial MT"/>
              <a:buChar char="●"/>
              <a:tabLst>
                <a:tab pos="362585" algn="l"/>
              </a:tabLst>
            </a:pPr>
            <a:r>
              <a:rPr sz="1100" b="1" dirty="0">
                <a:latin typeface="Arial"/>
                <a:cs typeface="Arial"/>
              </a:rPr>
              <a:t>	Review</a:t>
            </a:r>
            <a:r>
              <a:rPr sz="1100" b="1" spc="-7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Discount</a:t>
            </a:r>
            <a:r>
              <a:rPr sz="1100" b="1" spc="-6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Policy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–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Balance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sales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boosts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margin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control.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440" dirty="0">
                <a:latin typeface="Arial MT"/>
                <a:cs typeface="Arial MT"/>
              </a:rPr>
              <a:t>●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b="1" spc="-10" dirty="0">
                <a:latin typeface="Arial"/>
                <a:cs typeface="Arial"/>
              </a:rPr>
              <a:t>Product Positioning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–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Highlight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top-</a:t>
            </a:r>
            <a:r>
              <a:rPr sz="1100" dirty="0">
                <a:latin typeface="Arial MT"/>
                <a:cs typeface="Arial MT"/>
              </a:rPr>
              <a:t>rated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best-selling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campaigns.</a:t>
            </a:r>
            <a:endParaRPr sz="11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535"/>
              </a:spcBef>
              <a:buFont typeface="Arial MT"/>
              <a:buChar char="●"/>
            </a:pPr>
            <a:endParaRPr sz="1100">
              <a:latin typeface="Arial MT"/>
              <a:cs typeface="Arial MT"/>
            </a:endParaRPr>
          </a:p>
          <a:p>
            <a:pPr marL="362585" marR="5080" lvl="1" indent="-152400">
              <a:lnSpc>
                <a:spcPct val="107800"/>
              </a:lnSpc>
              <a:buFont typeface="Arial MT"/>
              <a:buChar char="●"/>
              <a:tabLst>
                <a:tab pos="469900" algn="l"/>
              </a:tabLst>
            </a:pPr>
            <a:r>
              <a:rPr sz="1100" b="1" spc="-20" dirty="0">
                <a:latin typeface="Arial"/>
                <a:cs typeface="Arial"/>
              </a:rPr>
              <a:t>Targeted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Marketing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–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Focus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efforts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high-</a:t>
            </a:r>
            <a:r>
              <a:rPr sz="1100" dirty="0">
                <a:latin typeface="Arial MT"/>
                <a:cs typeface="Arial MT"/>
              </a:rPr>
              <a:t>revenue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age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groups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express-shipping 	users.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213" y="999670"/>
            <a:ext cx="6261437" cy="34196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558</Words>
  <Application>Microsoft Office PowerPoint</Application>
  <PresentationFormat>Custom</PresentationFormat>
  <Paragraphs>57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Arial MT</vt:lpstr>
      <vt:lpstr>Courier New</vt:lpstr>
      <vt:lpstr>Office Theme</vt:lpstr>
      <vt:lpstr>Customer Shopping Behavior Analysis ~By Ayush Gupta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cp:lastModifiedBy>Ayush Gupta 07</cp:lastModifiedBy>
  <cp:revision>2</cp:revision>
  <dcterms:created xsi:type="dcterms:W3CDTF">2026-05-24T18:10:44Z</dcterms:created>
  <dcterms:modified xsi:type="dcterms:W3CDTF">2026-05-25T15:20:18Z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2026-05-24T00:00:00Z</vt:filetime>
  </property>
  <property fmtid="{D5CDD505-2E9C-101B-9397-08002B2CF9AE}" pid="4" name="Producer">
    <vt:lpwstr>Skia/PDF m143 Google Docs Renderer</vt:lpwstr>
  </property>
  <property fmtid="{D5CDD505-2E9C-101B-9397-08002B2CF9AE}" pid="5" name="LastSaved">
    <vt:filetime>2026-05-24T00:00:00Z</vt:filetime>
  </property>
</Properties>
</file>