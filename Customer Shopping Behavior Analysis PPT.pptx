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83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403BC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48485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03BC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48485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03BC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45947" y="1735963"/>
            <a:ext cx="6453505" cy="5702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48485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03BC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AF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38"/>
            <a:ext cx="1722627" cy="41147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630399" cy="28352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AF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2" y="7749538"/>
            <a:ext cx="1722627" cy="4114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149" y="286588"/>
            <a:ext cx="8640927" cy="9352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403BC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1304" y="2084883"/>
            <a:ext cx="7350125" cy="2425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48485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2555824"/>
            <a:ext cx="5876290" cy="1416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610"/>
              </a:lnSpc>
            </a:pPr>
            <a:r>
              <a:rPr sz="4450" spc="505" dirty="0"/>
              <a:t>Customer</a:t>
            </a:r>
            <a:r>
              <a:rPr sz="4450" spc="310" dirty="0"/>
              <a:t> </a:t>
            </a:r>
            <a:r>
              <a:rPr sz="4450" spc="500" dirty="0"/>
              <a:t>Shopping </a:t>
            </a:r>
            <a:r>
              <a:rPr sz="4450" spc="425" dirty="0"/>
              <a:t>Behavior</a:t>
            </a:r>
            <a:r>
              <a:rPr sz="4450" spc="260" dirty="0"/>
              <a:t> </a:t>
            </a:r>
            <a:r>
              <a:rPr sz="4450" spc="345" dirty="0"/>
              <a:t>Analysis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781304" y="4297731"/>
            <a:ext cx="7581265" cy="13254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6400">
              <a:lnSpc>
                <a:spcPct val="138300"/>
              </a:lnSpc>
              <a:spcBef>
                <a:spcPts val="100"/>
              </a:spcBef>
            </a:pP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Uncovering</a:t>
            </a:r>
            <a:r>
              <a:rPr sz="1750" spc="11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insights</a:t>
            </a:r>
            <a:r>
              <a:rPr sz="1750" spc="14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110" dirty="0">
                <a:solidFill>
                  <a:srgbClr val="48485A"/>
                </a:solidFill>
                <a:latin typeface="Arial MT"/>
                <a:cs typeface="Arial MT"/>
              </a:rPr>
              <a:t>from</a:t>
            </a:r>
            <a:r>
              <a:rPr sz="1750" spc="1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3,900</a:t>
            </a:r>
            <a:r>
              <a:rPr sz="1750" spc="15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purchases</a:t>
            </a:r>
            <a:r>
              <a:rPr sz="1750" spc="1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100" dirty="0">
                <a:solidFill>
                  <a:srgbClr val="48485A"/>
                </a:solidFill>
                <a:latin typeface="Arial MT"/>
                <a:cs typeface="Arial MT"/>
              </a:rPr>
              <a:t>to</a:t>
            </a:r>
            <a:r>
              <a:rPr sz="1750" spc="17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guide</a:t>
            </a:r>
            <a:r>
              <a:rPr sz="1750" spc="1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strategic</a:t>
            </a:r>
            <a:r>
              <a:rPr sz="1750" spc="16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8485A"/>
                </a:solidFill>
                <a:latin typeface="Arial MT"/>
                <a:cs typeface="Arial MT"/>
              </a:rPr>
              <a:t>business decisions</a:t>
            </a:r>
            <a:endParaRPr sz="17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75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1450" b="1" i="1" spc="-100" dirty="0">
                <a:solidFill>
                  <a:srgbClr val="48485A"/>
                </a:solidFill>
                <a:latin typeface="Arial"/>
                <a:cs typeface="Arial"/>
              </a:rPr>
              <a:t>~By</a:t>
            </a:r>
            <a:r>
              <a:rPr sz="1450" b="1" i="1" spc="-75" dirty="0">
                <a:solidFill>
                  <a:srgbClr val="48485A"/>
                </a:solidFill>
                <a:latin typeface="Arial"/>
                <a:cs typeface="Arial"/>
              </a:rPr>
              <a:t> </a:t>
            </a:r>
            <a:r>
              <a:rPr lang="en-IN" sz="1450" b="1" i="1" spc="-40" dirty="0">
                <a:solidFill>
                  <a:srgbClr val="48485A"/>
                </a:solidFill>
                <a:latin typeface="Arial"/>
                <a:cs typeface="Arial"/>
              </a:rPr>
              <a:t> Ayush Gupta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847801"/>
            <a:ext cx="5048250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50" spc="345" dirty="0"/>
              <a:t>Project</a:t>
            </a:r>
            <a:r>
              <a:rPr sz="4450" spc="315" dirty="0"/>
              <a:t> </a:t>
            </a:r>
            <a:r>
              <a:rPr sz="4450" spc="465" dirty="0"/>
              <a:t>Overview</a:t>
            </a:r>
            <a:endParaRPr sz="44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5730">
              <a:lnSpc>
                <a:spcPct val="138300"/>
              </a:lnSpc>
              <a:spcBef>
                <a:spcPts val="100"/>
              </a:spcBef>
            </a:pPr>
            <a:r>
              <a:rPr dirty="0"/>
              <a:t>This</a:t>
            </a:r>
            <a:r>
              <a:rPr spc="30" dirty="0"/>
              <a:t> </a:t>
            </a:r>
            <a:r>
              <a:rPr spc="45" dirty="0"/>
              <a:t>comprehensive</a:t>
            </a:r>
            <a:r>
              <a:rPr spc="15" dirty="0"/>
              <a:t> </a:t>
            </a:r>
            <a:r>
              <a:rPr dirty="0"/>
              <a:t>analysis</a:t>
            </a:r>
            <a:r>
              <a:rPr spc="20" dirty="0"/>
              <a:t> </a:t>
            </a:r>
            <a:r>
              <a:rPr dirty="0"/>
              <a:t>examines</a:t>
            </a:r>
            <a:r>
              <a:rPr spc="45" dirty="0"/>
              <a:t> </a:t>
            </a:r>
            <a:r>
              <a:rPr spc="60" dirty="0"/>
              <a:t>customer</a:t>
            </a:r>
            <a:r>
              <a:rPr spc="15" dirty="0"/>
              <a:t> </a:t>
            </a:r>
            <a:r>
              <a:rPr spc="50" dirty="0"/>
              <a:t>shopping</a:t>
            </a:r>
            <a:r>
              <a:rPr spc="30" dirty="0"/>
              <a:t> </a:t>
            </a:r>
            <a:r>
              <a:rPr spc="40" dirty="0"/>
              <a:t>behavior </a:t>
            </a:r>
            <a:r>
              <a:rPr dirty="0"/>
              <a:t>using</a:t>
            </a:r>
            <a:r>
              <a:rPr spc="75" dirty="0"/>
              <a:t> </a:t>
            </a:r>
            <a:r>
              <a:rPr spc="45" dirty="0"/>
              <a:t>transactional</a:t>
            </a:r>
            <a:r>
              <a:rPr spc="60" dirty="0"/>
              <a:t> </a:t>
            </a:r>
            <a:r>
              <a:rPr dirty="0"/>
              <a:t>data</a:t>
            </a:r>
            <a:r>
              <a:rPr spc="125" dirty="0"/>
              <a:t> </a:t>
            </a:r>
            <a:r>
              <a:rPr spc="110" dirty="0"/>
              <a:t>from</a:t>
            </a:r>
            <a:r>
              <a:rPr spc="80" dirty="0"/>
              <a:t> </a:t>
            </a:r>
            <a:r>
              <a:rPr dirty="0"/>
              <a:t>3,900</a:t>
            </a:r>
            <a:r>
              <a:rPr spc="114" dirty="0"/>
              <a:t> </a:t>
            </a:r>
            <a:r>
              <a:rPr dirty="0"/>
              <a:t>purchases</a:t>
            </a:r>
            <a:r>
              <a:rPr spc="90" dirty="0"/>
              <a:t> </a:t>
            </a:r>
            <a:r>
              <a:rPr dirty="0"/>
              <a:t>across</a:t>
            </a:r>
            <a:r>
              <a:rPr spc="90" dirty="0"/>
              <a:t> </a:t>
            </a:r>
            <a:r>
              <a:rPr dirty="0"/>
              <a:t>various</a:t>
            </a:r>
            <a:r>
              <a:rPr spc="90" dirty="0"/>
              <a:t> </a:t>
            </a:r>
            <a:r>
              <a:rPr spc="65" dirty="0"/>
              <a:t>product </a:t>
            </a:r>
            <a:r>
              <a:rPr spc="-10" dirty="0"/>
              <a:t>categories.</a:t>
            </a:r>
          </a:p>
          <a:p>
            <a:pPr marL="12700" marR="5080">
              <a:lnSpc>
                <a:spcPct val="138400"/>
              </a:lnSpc>
              <a:spcBef>
                <a:spcPts val="1465"/>
              </a:spcBef>
            </a:pPr>
            <a:r>
              <a:rPr spc="70" dirty="0"/>
              <a:t>Our</a:t>
            </a:r>
            <a:r>
              <a:rPr spc="45" dirty="0"/>
              <a:t> </a:t>
            </a:r>
            <a:r>
              <a:rPr dirty="0"/>
              <a:t>goal:</a:t>
            </a:r>
            <a:r>
              <a:rPr spc="50" dirty="0"/>
              <a:t> uncover </a:t>
            </a:r>
            <a:r>
              <a:rPr dirty="0"/>
              <a:t>insights</a:t>
            </a:r>
            <a:r>
              <a:rPr spc="35" dirty="0"/>
              <a:t> </a:t>
            </a:r>
            <a:r>
              <a:rPr spc="85" dirty="0"/>
              <a:t>into</a:t>
            </a:r>
            <a:r>
              <a:rPr spc="55" dirty="0"/>
              <a:t> </a:t>
            </a:r>
            <a:r>
              <a:rPr dirty="0"/>
              <a:t>spending</a:t>
            </a:r>
            <a:r>
              <a:rPr spc="55" dirty="0"/>
              <a:t> </a:t>
            </a:r>
            <a:r>
              <a:rPr spc="50" dirty="0"/>
              <a:t>patterns,</a:t>
            </a:r>
            <a:r>
              <a:rPr spc="60" dirty="0"/>
              <a:t> customer</a:t>
            </a:r>
            <a:r>
              <a:rPr spc="45" dirty="0"/>
              <a:t> </a:t>
            </a:r>
            <a:r>
              <a:rPr spc="-10" dirty="0"/>
              <a:t>segments, </a:t>
            </a:r>
            <a:r>
              <a:rPr spc="75" dirty="0"/>
              <a:t>product</a:t>
            </a:r>
            <a:r>
              <a:rPr spc="30" dirty="0"/>
              <a:t> </a:t>
            </a:r>
            <a:r>
              <a:rPr dirty="0"/>
              <a:t>preferences,</a:t>
            </a:r>
            <a:r>
              <a:rPr spc="35" dirty="0"/>
              <a:t> </a:t>
            </a:r>
            <a:r>
              <a:rPr spc="55" dirty="0"/>
              <a:t>and</a:t>
            </a:r>
            <a:r>
              <a:rPr spc="50" dirty="0"/>
              <a:t> subscription</a:t>
            </a:r>
            <a:r>
              <a:rPr spc="10" dirty="0"/>
              <a:t> </a:t>
            </a:r>
            <a:r>
              <a:rPr spc="50" dirty="0"/>
              <a:t>behavior</a:t>
            </a:r>
            <a:r>
              <a:rPr spc="20" dirty="0"/>
              <a:t> </a:t>
            </a:r>
            <a:r>
              <a:rPr spc="100" dirty="0"/>
              <a:t>to</a:t>
            </a:r>
            <a:r>
              <a:rPr spc="30" dirty="0"/>
              <a:t> </a:t>
            </a:r>
            <a:r>
              <a:rPr spc="50" dirty="0"/>
              <a:t>drive</a:t>
            </a:r>
            <a:r>
              <a:rPr spc="40" dirty="0"/>
              <a:t> </a:t>
            </a:r>
            <a:r>
              <a:rPr spc="-10" dirty="0"/>
              <a:t>strategic </a:t>
            </a:r>
            <a:r>
              <a:rPr dirty="0"/>
              <a:t>business</a:t>
            </a:r>
            <a:r>
              <a:rPr spc="155" dirty="0"/>
              <a:t> </a:t>
            </a:r>
            <a:r>
              <a:rPr spc="-10" dirty="0"/>
              <a:t>decisions.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9088" y="2196655"/>
            <a:ext cx="4885055" cy="48850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527124"/>
            <a:ext cx="5493385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50" spc="325" dirty="0"/>
              <a:t>Dataset</a:t>
            </a:r>
            <a:r>
              <a:rPr sz="4450" spc="305" dirty="0"/>
              <a:t> </a:t>
            </a:r>
            <a:r>
              <a:rPr sz="4450" spc="220" dirty="0"/>
              <a:t>at</a:t>
            </a:r>
            <a:r>
              <a:rPr sz="4450" spc="290" dirty="0"/>
              <a:t> </a:t>
            </a:r>
            <a:r>
              <a:rPr sz="4450" spc="280" dirty="0"/>
              <a:t>a</a:t>
            </a:r>
            <a:r>
              <a:rPr sz="4450" spc="305" dirty="0"/>
              <a:t> </a:t>
            </a:r>
            <a:r>
              <a:rPr sz="4450" spc="495" dirty="0"/>
              <a:t>Glance</a:t>
            </a:r>
            <a:endParaRPr sz="4450"/>
          </a:p>
        </p:txBody>
      </p:sp>
      <p:sp>
        <p:nvSpPr>
          <p:cNvPr id="3" name="object 3"/>
          <p:cNvSpPr txBox="1"/>
          <p:nvPr/>
        </p:nvSpPr>
        <p:spPr>
          <a:xfrm>
            <a:off x="1713102" y="2654300"/>
            <a:ext cx="2319020" cy="2049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5"/>
              </a:spcBef>
            </a:pPr>
            <a:r>
              <a:rPr sz="5850" spc="610" dirty="0">
                <a:solidFill>
                  <a:srgbClr val="48485A"/>
                </a:solidFill>
                <a:latin typeface="Cambria"/>
                <a:cs typeface="Cambria"/>
              </a:rPr>
              <a:t>3,900</a:t>
            </a:r>
            <a:endParaRPr sz="5850">
              <a:latin typeface="Cambria"/>
              <a:cs typeface="Cambria"/>
            </a:endParaRPr>
          </a:p>
          <a:p>
            <a:pPr marL="29209">
              <a:lnSpc>
                <a:spcPct val="100000"/>
              </a:lnSpc>
              <a:spcBef>
                <a:spcPts val="2425"/>
              </a:spcBef>
            </a:pPr>
            <a:r>
              <a:rPr sz="2200" spc="204" dirty="0">
                <a:solidFill>
                  <a:srgbClr val="48485A"/>
                </a:solidFill>
                <a:latin typeface="Cambria"/>
                <a:cs typeface="Cambria"/>
              </a:rPr>
              <a:t>Total</a:t>
            </a:r>
            <a:r>
              <a:rPr sz="2200" spc="165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2200" spc="160" dirty="0">
                <a:solidFill>
                  <a:srgbClr val="48485A"/>
                </a:solidFill>
                <a:latin typeface="Cambria"/>
                <a:cs typeface="Cambria"/>
              </a:rPr>
              <a:t>Purchases</a:t>
            </a: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Transactions</a:t>
            </a:r>
            <a:r>
              <a:rPr sz="1750" spc="2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8485A"/>
                </a:solidFill>
                <a:latin typeface="Arial MT"/>
                <a:cs typeface="Arial MT"/>
              </a:rPr>
              <a:t>analyzed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5959" y="2654300"/>
            <a:ext cx="2077720" cy="2049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5"/>
              </a:spcBef>
            </a:pPr>
            <a:r>
              <a:rPr sz="5850" spc="-25" dirty="0">
                <a:solidFill>
                  <a:srgbClr val="48485A"/>
                </a:solidFill>
                <a:latin typeface="Cambria"/>
                <a:cs typeface="Cambria"/>
              </a:rPr>
              <a:t>18</a:t>
            </a:r>
            <a:endParaRPr sz="58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425"/>
              </a:spcBef>
            </a:pPr>
            <a:r>
              <a:rPr sz="2200" spc="204" dirty="0">
                <a:solidFill>
                  <a:srgbClr val="48485A"/>
                </a:solidFill>
                <a:latin typeface="Cambria"/>
                <a:cs typeface="Cambria"/>
              </a:rPr>
              <a:t>Data</a:t>
            </a:r>
            <a:r>
              <a:rPr sz="2200" spc="190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2200" spc="275" dirty="0">
                <a:solidFill>
                  <a:srgbClr val="48485A"/>
                </a:solidFill>
                <a:latin typeface="Cambria"/>
                <a:cs typeface="Cambria"/>
              </a:rPr>
              <a:t>Columns</a:t>
            </a:r>
            <a:endParaRPr sz="2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Feature</a:t>
            </a:r>
            <a:r>
              <a:rPr sz="1750" spc="12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40" dirty="0">
                <a:solidFill>
                  <a:srgbClr val="48485A"/>
                </a:solidFill>
                <a:latin typeface="Arial MT"/>
                <a:cs typeface="Arial MT"/>
              </a:rPr>
              <a:t>dimensions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51363" y="2654300"/>
            <a:ext cx="2211705" cy="2049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5"/>
              </a:spcBef>
            </a:pPr>
            <a:r>
              <a:rPr sz="5850" spc="-25" dirty="0">
                <a:solidFill>
                  <a:srgbClr val="48485A"/>
                </a:solidFill>
                <a:latin typeface="Cambria"/>
                <a:cs typeface="Cambria"/>
              </a:rPr>
              <a:t>37</a:t>
            </a:r>
            <a:endParaRPr sz="58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425"/>
              </a:spcBef>
            </a:pPr>
            <a:r>
              <a:rPr sz="2200" spc="200" dirty="0">
                <a:solidFill>
                  <a:srgbClr val="48485A"/>
                </a:solidFill>
                <a:latin typeface="Cambria"/>
                <a:cs typeface="Cambria"/>
              </a:rPr>
              <a:t>Missing</a:t>
            </a:r>
            <a:r>
              <a:rPr sz="2200" spc="204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2200" spc="170" dirty="0">
                <a:solidFill>
                  <a:srgbClr val="48485A"/>
                </a:solidFill>
                <a:latin typeface="Cambria"/>
                <a:cs typeface="Cambria"/>
              </a:rPr>
              <a:t>Values</a:t>
            </a:r>
            <a:endParaRPr sz="2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In</a:t>
            </a:r>
            <a:r>
              <a:rPr sz="1750" spc="-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Review</a:t>
            </a:r>
            <a:r>
              <a:rPr sz="1750" spc="-3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Rating</a:t>
            </a:r>
            <a:r>
              <a:rPr sz="1750" spc="-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35" dirty="0">
                <a:solidFill>
                  <a:srgbClr val="48485A"/>
                </a:solidFill>
                <a:latin typeface="Arial MT"/>
                <a:cs typeface="Arial MT"/>
              </a:rPr>
              <a:t>only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3788" y="4987925"/>
            <a:ext cx="4196715" cy="1670050"/>
          </a:xfrm>
          <a:custGeom>
            <a:avLst/>
            <a:gdLst/>
            <a:ahLst/>
            <a:cxnLst/>
            <a:rect l="l" t="t" r="r" b="b"/>
            <a:pathLst>
              <a:path w="4196715" h="1670050">
                <a:moveTo>
                  <a:pt x="4162386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635760"/>
                </a:lnTo>
                <a:lnTo>
                  <a:pt x="2674" y="1649007"/>
                </a:lnTo>
                <a:lnTo>
                  <a:pt x="9969" y="1659826"/>
                </a:lnTo>
                <a:lnTo>
                  <a:pt x="20788" y="1667121"/>
                </a:lnTo>
                <a:lnTo>
                  <a:pt x="34036" y="1669796"/>
                </a:lnTo>
                <a:lnTo>
                  <a:pt x="4162386" y="1669796"/>
                </a:lnTo>
                <a:lnTo>
                  <a:pt x="4175634" y="1667121"/>
                </a:lnTo>
                <a:lnTo>
                  <a:pt x="4186453" y="1659826"/>
                </a:lnTo>
                <a:lnTo>
                  <a:pt x="4193747" y="1649007"/>
                </a:lnTo>
                <a:lnTo>
                  <a:pt x="4196422" y="1635760"/>
                </a:lnTo>
                <a:lnTo>
                  <a:pt x="4196422" y="34036"/>
                </a:lnTo>
                <a:lnTo>
                  <a:pt x="4193747" y="20788"/>
                </a:lnTo>
                <a:lnTo>
                  <a:pt x="4186453" y="9969"/>
                </a:lnTo>
                <a:lnTo>
                  <a:pt x="4175634" y="2674"/>
                </a:lnTo>
                <a:lnTo>
                  <a:pt x="4162386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8075" y="5190871"/>
            <a:ext cx="3712210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20" dirty="0">
                <a:solidFill>
                  <a:srgbClr val="48485A"/>
                </a:solidFill>
                <a:latin typeface="Cambria"/>
                <a:cs typeface="Cambria"/>
              </a:rPr>
              <a:t>Demographics</a:t>
            </a:r>
            <a:endParaRPr sz="2200">
              <a:latin typeface="Cambria"/>
              <a:cs typeface="Cambria"/>
            </a:endParaRPr>
          </a:p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sz="1750" spc="-20" dirty="0">
                <a:solidFill>
                  <a:srgbClr val="48485A"/>
                </a:solidFill>
                <a:latin typeface="Arial MT"/>
                <a:cs typeface="Arial MT"/>
              </a:rPr>
              <a:t>Age,</a:t>
            </a:r>
            <a:r>
              <a:rPr sz="1750" spc="9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Gender,</a:t>
            </a:r>
            <a:r>
              <a:rPr sz="1750" spc="10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Location,</a:t>
            </a:r>
            <a:r>
              <a:rPr sz="1750" spc="6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8485A"/>
                </a:solidFill>
                <a:latin typeface="Arial MT"/>
                <a:cs typeface="Arial MT"/>
              </a:rPr>
              <a:t>Subscription Status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16905" y="4987925"/>
            <a:ext cx="4196715" cy="1670050"/>
          </a:xfrm>
          <a:custGeom>
            <a:avLst/>
            <a:gdLst/>
            <a:ahLst/>
            <a:cxnLst/>
            <a:rect l="l" t="t" r="r" b="b"/>
            <a:pathLst>
              <a:path w="4196715" h="1670050">
                <a:moveTo>
                  <a:pt x="4162425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635760"/>
                </a:lnTo>
                <a:lnTo>
                  <a:pt x="2674" y="1649007"/>
                </a:lnTo>
                <a:lnTo>
                  <a:pt x="9969" y="1659826"/>
                </a:lnTo>
                <a:lnTo>
                  <a:pt x="20788" y="1667121"/>
                </a:lnTo>
                <a:lnTo>
                  <a:pt x="34036" y="1669796"/>
                </a:lnTo>
                <a:lnTo>
                  <a:pt x="4162425" y="1669796"/>
                </a:lnTo>
                <a:lnTo>
                  <a:pt x="4175672" y="1667121"/>
                </a:lnTo>
                <a:lnTo>
                  <a:pt x="4186491" y="1659826"/>
                </a:lnTo>
                <a:lnTo>
                  <a:pt x="4193786" y="1649007"/>
                </a:lnTo>
                <a:lnTo>
                  <a:pt x="4196461" y="1635760"/>
                </a:lnTo>
                <a:lnTo>
                  <a:pt x="4196461" y="34036"/>
                </a:lnTo>
                <a:lnTo>
                  <a:pt x="4193786" y="20788"/>
                </a:lnTo>
                <a:lnTo>
                  <a:pt x="4186491" y="9969"/>
                </a:lnTo>
                <a:lnTo>
                  <a:pt x="4175672" y="2674"/>
                </a:lnTo>
                <a:lnTo>
                  <a:pt x="4162425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31663" y="5190871"/>
            <a:ext cx="3404235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85" dirty="0">
                <a:solidFill>
                  <a:srgbClr val="48485A"/>
                </a:solidFill>
                <a:latin typeface="Cambria"/>
                <a:cs typeface="Cambria"/>
              </a:rPr>
              <a:t>Purchase</a:t>
            </a:r>
            <a:r>
              <a:rPr sz="2200" spc="175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2200" spc="150" dirty="0">
                <a:solidFill>
                  <a:srgbClr val="48485A"/>
                </a:solidFill>
                <a:latin typeface="Cambria"/>
                <a:cs typeface="Cambria"/>
              </a:rPr>
              <a:t>Details</a:t>
            </a:r>
            <a:endParaRPr sz="2200">
              <a:latin typeface="Cambria"/>
              <a:cs typeface="Cambria"/>
            </a:endParaRPr>
          </a:p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Item,</a:t>
            </a:r>
            <a:r>
              <a:rPr sz="1750" spc="8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Category,</a:t>
            </a:r>
            <a:r>
              <a:rPr sz="17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60" dirty="0">
                <a:solidFill>
                  <a:srgbClr val="48485A"/>
                </a:solidFill>
                <a:latin typeface="Arial MT"/>
                <a:cs typeface="Arial MT"/>
              </a:rPr>
              <a:t>Amount,</a:t>
            </a:r>
            <a:r>
              <a:rPr sz="17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8485A"/>
                </a:solidFill>
                <a:latin typeface="Arial MT"/>
                <a:cs typeface="Arial MT"/>
              </a:rPr>
              <a:t>Season, </a:t>
            </a:r>
            <a:r>
              <a:rPr sz="1750" spc="-45" dirty="0">
                <a:solidFill>
                  <a:srgbClr val="48485A"/>
                </a:solidFill>
                <a:latin typeface="Arial MT"/>
                <a:cs typeface="Arial MT"/>
              </a:rPr>
              <a:t>Size, </a:t>
            </a:r>
            <a:r>
              <a:rPr sz="1750" spc="-10" dirty="0">
                <a:solidFill>
                  <a:srgbClr val="48485A"/>
                </a:solidFill>
                <a:latin typeface="Arial MT"/>
                <a:cs typeface="Arial MT"/>
              </a:rPr>
              <a:t>Color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640189" y="4987925"/>
            <a:ext cx="4196715" cy="1670050"/>
          </a:xfrm>
          <a:custGeom>
            <a:avLst/>
            <a:gdLst/>
            <a:ahLst/>
            <a:cxnLst/>
            <a:rect l="l" t="t" r="r" b="b"/>
            <a:pathLst>
              <a:path w="4196715" h="1670050">
                <a:moveTo>
                  <a:pt x="4162297" y="0"/>
                </a:moveTo>
                <a:lnTo>
                  <a:pt x="34035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635760"/>
                </a:lnTo>
                <a:lnTo>
                  <a:pt x="2674" y="1649007"/>
                </a:lnTo>
                <a:lnTo>
                  <a:pt x="9969" y="1659826"/>
                </a:lnTo>
                <a:lnTo>
                  <a:pt x="20788" y="1667121"/>
                </a:lnTo>
                <a:lnTo>
                  <a:pt x="34035" y="1669796"/>
                </a:lnTo>
                <a:lnTo>
                  <a:pt x="4162297" y="1669796"/>
                </a:lnTo>
                <a:lnTo>
                  <a:pt x="4175545" y="1667121"/>
                </a:lnTo>
                <a:lnTo>
                  <a:pt x="4186364" y="1659826"/>
                </a:lnTo>
                <a:lnTo>
                  <a:pt x="4193659" y="1649007"/>
                </a:lnTo>
                <a:lnTo>
                  <a:pt x="4196333" y="1635760"/>
                </a:lnTo>
                <a:lnTo>
                  <a:pt x="4196333" y="34036"/>
                </a:lnTo>
                <a:lnTo>
                  <a:pt x="4193659" y="20788"/>
                </a:lnTo>
                <a:lnTo>
                  <a:pt x="4186364" y="9969"/>
                </a:lnTo>
                <a:lnTo>
                  <a:pt x="4175545" y="2674"/>
                </a:lnTo>
                <a:lnTo>
                  <a:pt x="4162297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855200" y="5190871"/>
            <a:ext cx="3630929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45" dirty="0">
                <a:solidFill>
                  <a:srgbClr val="48485A"/>
                </a:solidFill>
                <a:latin typeface="Cambria"/>
                <a:cs typeface="Cambria"/>
              </a:rPr>
              <a:t>Shopping</a:t>
            </a:r>
            <a:r>
              <a:rPr sz="2200" spc="204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2200" spc="200" dirty="0">
                <a:solidFill>
                  <a:srgbClr val="48485A"/>
                </a:solidFill>
                <a:latin typeface="Cambria"/>
                <a:cs typeface="Cambria"/>
              </a:rPr>
              <a:t>Behavior</a:t>
            </a:r>
            <a:endParaRPr sz="2200">
              <a:latin typeface="Cambria"/>
              <a:cs typeface="Cambria"/>
            </a:endParaRPr>
          </a:p>
          <a:p>
            <a:pPr marL="12700" marR="5080">
              <a:lnSpc>
                <a:spcPct val="138400"/>
              </a:lnSpc>
              <a:spcBef>
                <a:spcPts val="935"/>
              </a:spcBef>
            </a:pP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Discounts,</a:t>
            </a: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60" dirty="0">
                <a:solidFill>
                  <a:srgbClr val="48485A"/>
                </a:solidFill>
                <a:latin typeface="Arial MT"/>
                <a:cs typeface="Arial MT"/>
              </a:rPr>
              <a:t>Promo</a:t>
            </a:r>
            <a:r>
              <a:rPr sz="175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Codes,</a:t>
            </a:r>
            <a:r>
              <a:rPr sz="175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8485A"/>
                </a:solidFill>
                <a:latin typeface="Arial MT"/>
                <a:cs typeface="Arial MT"/>
              </a:rPr>
              <a:t>Purchase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History,</a:t>
            </a:r>
            <a:r>
              <a:rPr sz="17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48485A"/>
                </a:solidFill>
                <a:latin typeface="Arial MT"/>
                <a:cs typeface="Arial MT"/>
              </a:rPr>
              <a:t>Reviews,</a:t>
            </a:r>
            <a:r>
              <a:rPr sz="1750" spc="1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8485A"/>
                </a:solidFill>
                <a:latin typeface="Arial MT"/>
                <a:cs typeface="Arial MT"/>
              </a:rPr>
              <a:t>Shipping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243" rIns="0" bIns="0" rtlCol="0">
            <a:spAutoFit/>
          </a:bodyPr>
          <a:lstStyle/>
          <a:p>
            <a:pPr marL="374015">
              <a:lnSpc>
                <a:spcPct val="100000"/>
              </a:lnSpc>
              <a:spcBef>
                <a:spcPts val="95"/>
              </a:spcBef>
            </a:pPr>
            <a:r>
              <a:rPr sz="4250" spc="395" dirty="0"/>
              <a:t>Data</a:t>
            </a:r>
            <a:r>
              <a:rPr sz="4250" spc="300" dirty="0"/>
              <a:t> </a:t>
            </a:r>
            <a:r>
              <a:rPr sz="4250" spc="355" dirty="0"/>
              <a:t>Preparation</a:t>
            </a:r>
            <a:r>
              <a:rPr sz="4250" spc="300" dirty="0"/>
              <a:t> </a:t>
            </a:r>
            <a:r>
              <a:rPr sz="4250" spc="330" dirty="0"/>
              <a:t>with</a:t>
            </a:r>
            <a:r>
              <a:rPr sz="4250" spc="305" dirty="0"/>
              <a:t> </a:t>
            </a:r>
            <a:r>
              <a:rPr sz="4250" spc="470" dirty="0"/>
              <a:t>Python</a:t>
            </a:r>
            <a:endParaRPr sz="4250"/>
          </a:p>
        </p:txBody>
      </p:sp>
      <p:sp>
        <p:nvSpPr>
          <p:cNvPr id="3" name="object 3"/>
          <p:cNvSpPr txBox="1"/>
          <p:nvPr/>
        </p:nvSpPr>
        <p:spPr>
          <a:xfrm>
            <a:off x="7411593" y="1735963"/>
            <a:ext cx="24511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48485A"/>
                </a:solidFill>
                <a:latin typeface="Calibri"/>
                <a:cs typeface="Calibri"/>
              </a:rPr>
              <a:t>02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11593" y="2193163"/>
            <a:ext cx="6287135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95" dirty="0">
                <a:solidFill>
                  <a:srgbClr val="48485A"/>
                </a:solidFill>
                <a:latin typeface="Cambria"/>
                <a:cs typeface="Cambria"/>
              </a:rPr>
              <a:t>Missing</a:t>
            </a:r>
            <a:r>
              <a:rPr sz="2100" spc="130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2100" spc="195" dirty="0">
                <a:solidFill>
                  <a:srgbClr val="48485A"/>
                </a:solidFill>
                <a:latin typeface="Cambria"/>
                <a:cs typeface="Cambria"/>
              </a:rPr>
              <a:t>Data</a:t>
            </a:r>
            <a:r>
              <a:rPr sz="2100" spc="150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2100" spc="220" dirty="0">
                <a:solidFill>
                  <a:srgbClr val="48485A"/>
                </a:solidFill>
                <a:latin typeface="Cambria"/>
                <a:cs typeface="Cambria"/>
              </a:rPr>
              <a:t>Handling</a:t>
            </a:r>
            <a:endParaRPr sz="2100">
              <a:latin typeface="Cambria"/>
              <a:cs typeface="Cambria"/>
            </a:endParaRPr>
          </a:p>
          <a:p>
            <a:pPr marL="12700" marR="5080">
              <a:lnSpc>
                <a:spcPct val="132400"/>
              </a:lnSpc>
              <a:spcBef>
                <a:spcPts val="910"/>
              </a:spcBef>
            </a:pPr>
            <a:r>
              <a:rPr sz="1700" spc="75" dirty="0">
                <a:solidFill>
                  <a:srgbClr val="48485A"/>
                </a:solidFill>
                <a:latin typeface="Arial MT"/>
                <a:cs typeface="Arial MT"/>
              </a:rPr>
              <a:t>Imputed</a:t>
            </a:r>
            <a:r>
              <a:rPr sz="1700" spc="-1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8485A"/>
                </a:solidFill>
                <a:latin typeface="Arial MT"/>
                <a:cs typeface="Arial MT"/>
              </a:rPr>
              <a:t>missing Review</a:t>
            </a:r>
            <a:r>
              <a:rPr sz="1700" spc="-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8485A"/>
                </a:solidFill>
                <a:latin typeface="Arial MT"/>
                <a:cs typeface="Arial MT"/>
              </a:rPr>
              <a:t>Rating</a:t>
            </a:r>
            <a:r>
              <a:rPr sz="1700" spc="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8485A"/>
                </a:solidFill>
                <a:latin typeface="Arial MT"/>
                <a:cs typeface="Arial MT"/>
              </a:rPr>
              <a:t>values</a:t>
            </a:r>
            <a:r>
              <a:rPr sz="170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8485A"/>
                </a:solidFill>
                <a:latin typeface="Arial MT"/>
                <a:cs typeface="Arial MT"/>
              </a:rPr>
              <a:t>using </a:t>
            </a:r>
            <a:r>
              <a:rPr sz="1700" spc="55" dirty="0">
                <a:solidFill>
                  <a:srgbClr val="48485A"/>
                </a:solidFill>
                <a:latin typeface="Arial MT"/>
                <a:cs typeface="Arial MT"/>
              </a:rPr>
              <a:t>median</a:t>
            </a:r>
            <a:r>
              <a:rPr sz="1700" spc="2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48485A"/>
                </a:solidFill>
                <a:latin typeface="Arial MT"/>
                <a:cs typeface="Arial MT"/>
              </a:rPr>
              <a:t>rating</a:t>
            </a:r>
            <a:r>
              <a:rPr sz="170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00" spc="45" dirty="0">
                <a:solidFill>
                  <a:srgbClr val="48485A"/>
                </a:solidFill>
                <a:latin typeface="Arial MT"/>
                <a:cs typeface="Arial MT"/>
              </a:rPr>
              <a:t>per </a:t>
            </a:r>
            <a:r>
              <a:rPr sz="1700" spc="75" dirty="0">
                <a:solidFill>
                  <a:srgbClr val="48485A"/>
                </a:solidFill>
                <a:latin typeface="Arial MT"/>
                <a:cs typeface="Arial MT"/>
              </a:rPr>
              <a:t>product</a:t>
            </a:r>
            <a:r>
              <a:rPr sz="1700" spc="-6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8485A"/>
                </a:solidFill>
                <a:latin typeface="Arial MT"/>
                <a:cs typeface="Arial MT"/>
              </a:rPr>
              <a:t>category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11593" y="3785361"/>
            <a:ext cx="24511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48485A"/>
                </a:solidFill>
                <a:latin typeface="Calibri"/>
                <a:cs typeface="Calibri"/>
              </a:rPr>
              <a:t>04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11593" y="4242308"/>
            <a:ext cx="6277610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70" dirty="0">
                <a:solidFill>
                  <a:srgbClr val="48485A"/>
                </a:solidFill>
                <a:latin typeface="Cambria"/>
                <a:cs typeface="Cambria"/>
              </a:rPr>
              <a:t>Feature</a:t>
            </a:r>
            <a:r>
              <a:rPr sz="2100" spc="165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2100" spc="190" dirty="0">
                <a:solidFill>
                  <a:srgbClr val="48485A"/>
                </a:solidFill>
                <a:latin typeface="Cambria"/>
                <a:cs typeface="Cambria"/>
              </a:rPr>
              <a:t>Engineering</a:t>
            </a:r>
            <a:endParaRPr sz="2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700" dirty="0">
                <a:solidFill>
                  <a:srgbClr val="48485A"/>
                </a:solidFill>
                <a:latin typeface="Arial MT"/>
                <a:cs typeface="Arial MT"/>
              </a:rPr>
              <a:t>Created</a:t>
            </a:r>
            <a:r>
              <a:rPr sz="1700" spc="5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8485A"/>
                </a:solidFill>
                <a:latin typeface="Arial MT"/>
                <a:cs typeface="Arial MT"/>
              </a:rPr>
              <a:t>age_group</a:t>
            </a:r>
            <a:r>
              <a:rPr sz="1700" spc="8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48485A"/>
                </a:solidFill>
                <a:latin typeface="Arial MT"/>
                <a:cs typeface="Arial MT"/>
              </a:rPr>
              <a:t>and</a:t>
            </a:r>
            <a:r>
              <a:rPr sz="1700" spc="8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8485A"/>
                </a:solidFill>
                <a:latin typeface="Arial MT"/>
                <a:cs typeface="Arial MT"/>
              </a:rPr>
              <a:t>purchase_frequency_days</a:t>
            </a:r>
            <a:r>
              <a:rPr sz="1700" spc="5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00" spc="50" dirty="0">
                <a:solidFill>
                  <a:srgbClr val="48485A"/>
                </a:solidFill>
                <a:latin typeface="Arial MT"/>
                <a:cs typeface="Arial MT"/>
              </a:rPr>
              <a:t>columns</a:t>
            </a:r>
            <a:r>
              <a:rPr sz="1700" spc="5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00" spc="70" dirty="0">
                <a:solidFill>
                  <a:srgbClr val="48485A"/>
                </a:solidFill>
                <a:latin typeface="Arial MT"/>
                <a:cs typeface="Arial MT"/>
              </a:rPr>
              <a:t>for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700" spc="50" dirty="0">
                <a:solidFill>
                  <a:srgbClr val="48485A"/>
                </a:solidFill>
                <a:latin typeface="Arial MT"/>
                <a:cs typeface="Arial MT"/>
              </a:rPr>
              <a:t>deeper</a:t>
            </a:r>
            <a:r>
              <a:rPr sz="1700" spc="-7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8485A"/>
                </a:solidFill>
                <a:latin typeface="Arial MT"/>
                <a:cs typeface="Arial MT"/>
              </a:rPr>
              <a:t>analysis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01</a:t>
            </a: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2100" spc="195" dirty="0">
                <a:latin typeface="Cambria"/>
                <a:cs typeface="Cambria"/>
              </a:rPr>
              <a:t>Data</a:t>
            </a:r>
            <a:r>
              <a:rPr sz="2100" spc="155" dirty="0">
                <a:latin typeface="Cambria"/>
                <a:cs typeface="Cambria"/>
              </a:rPr>
              <a:t> </a:t>
            </a:r>
            <a:r>
              <a:rPr sz="2100" spc="235" dirty="0">
                <a:latin typeface="Cambria"/>
                <a:cs typeface="Cambria"/>
              </a:rPr>
              <a:t>Loading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390" dirty="0">
                <a:latin typeface="Cambria"/>
                <a:cs typeface="Cambria"/>
              </a:rPr>
              <a:t>&amp;</a:t>
            </a:r>
            <a:r>
              <a:rPr sz="2100" spc="145" dirty="0">
                <a:latin typeface="Cambria"/>
                <a:cs typeface="Cambria"/>
              </a:rPr>
              <a:t> </a:t>
            </a:r>
            <a:r>
              <a:rPr sz="2100" spc="185" dirty="0">
                <a:latin typeface="Cambria"/>
                <a:cs typeface="Cambria"/>
              </a:rPr>
              <a:t>Exploration</a:t>
            </a:r>
            <a:endParaRPr sz="2100">
              <a:latin typeface="Cambria"/>
              <a:cs typeface="Cambria"/>
            </a:endParaRPr>
          </a:p>
          <a:p>
            <a:pPr marL="12700" marR="5080">
              <a:lnSpc>
                <a:spcPct val="132400"/>
              </a:lnSpc>
              <a:spcBef>
                <a:spcPts val="910"/>
              </a:spcBef>
            </a:pPr>
            <a:r>
              <a:rPr spc="80" dirty="0">
                <a:latin typeface="Arial MT"/>
                <a:cs typeface="Arial MT"/>
              </a:rPr>
              <a:t>Imported</a:t>
            </a:r>
            <a:r>
              <a:rPr spc="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dataset</a:t>
            </a:r>
            <a:r>
              <a:rPr spc="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using</a:t>
            </a:r>
            <a:r>
              <a:rPr spc="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pandas,</a:t>
            </a:r>
            <a:r>
              <a:rPr spc="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analyzed</a:t>
            </a:r>
            <a:r>
              <a:rPr spc="55" dirty="0">
                <a:latin typeface="Arial MT"/>
                <a:cs typeface="Arial MT"/>
              </a:rPr>
              <a:t> </a:t>
            </a:r>
            <a:r>
              <a:rPr spc="65" dirty="0">
                <a:latin typeface="Arial MT"/>
                <a:cs typeface="Arial MT"/>
              </a:rPr>
              <a:t>structure</a:t>
            </a:r>
            <a:r>
              <a:rPr spc="45" dirty="0">
                <a:latin typeface="Arial MT"/>
                <a:cs typeface="Arial MT"/>
              </a:rPr>
              <a:t> </a:t>
            </a:r>
            <a:r>
              <a:rPr spc="85" dirty="0">
                <a:latin typeface="Arial MT"/>
                <a:cs typeface="Arial MT"/>
              </a:rPr>
              <a:t>with</a:t>
            </a:r>
            <a:r>
              <a:rPr spc="3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df.info() </a:t>
            </a:r>
            <a:r>
              <a:rPr spc="55" dirty="0">
                <a:latin typeface="Arial MT"/>
                <a:cs typeface="Arial MT"/>
              </a:rPr>
              <a:t>and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65" dirty="0">
                <a:latin typeface="Arial MT"/>
                <a:cs typeface="Arial MT"/>
              </a:rPr>
              <a:t>summary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statistics</a:t>
            </a:r>
          </a:p>
          <a:p>
            <a:pPr>
              <a:lnSpc>
                <a:spcPct val="100000"/>
              </a:lnSpc>
              <a:spcBef>
                <a:spcPts val="1755"/>
              </a:spcBef>
            </a:pPr>
            <a:endParaRPr spc="-1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pc="-25" dirty="0"/>
              <a:t>03</a:t>
            </a: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2100" spc="305" dirty="0">
                <a:latin typeface="Cambria"/>
                <a:cs typeface="Cambria"/>
              </a:rPr>
              <a:t>Column</a:t>
            </a:r>
            <a:r>
              <a:rPr sz="2100" spc="170" dirty="0">
                <a:latin typeface="Cambria"/>
                <a:cs typeface="Cambria"/>
              </a:rPr>
              <a:t> Standardization</a:t>
            </a:r>
            <a:endParaRPr sz="2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dirty="0">
                <a:latin typeface="Arial MT"/>
                <a:cs typeface="Arial MT"/>
              </a:rPr>
              <a:t>Renamed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50" dirty="0">
                <a:latin typeface="Arial MT"/>
                <a:cs typeface="Arial MT"/>
              </a:rPr>
              <a:t>columns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95" dirty="0">
                <a:latin typeface="Arial MT"/>
                <a:cs typeface="Arial MT"/>
              </a:rPr>
              <a:t>to</a:t>
            </a:r>
            <a:r>
              <a:rPr spc="-20" dirty="0">
                <a:latin typeface="Arial MT"/>
                <a:cs typeface="Arial MT"/>
              </a:rPr>
              <a:t> snake_case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95" dirty="0">
                <a:latin typeface="Arial MT"/>
                <a:cs typeface="Arial MT"/>
              </a:rPr>
              <a:t>for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70" dirty="0">
                <a:latin typeface="Arial MT"/>
                <a:cs typeface="Arial MT"/>
              </a:rPr>
              <a:t>better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55" dirty="0">
                <a:latin typeface="Arial MT"/>
                <a:cs typeface="Arial MT"/>
              </a:rPr>
              <a:t>readability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30" dirty="0">
                <a:latin typeface="Arial MT"/>
                <a:cs typeface="Arial MT"/>
              </a:rPr>
              <a:t>and</a:t>
            </a: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pc="55" dirty="0">
                <a:latin typeface="Arial MT"/>
                <a:cs typeface="Arial MT"/>
              </a:rPr>
              <a:t>documentation</a:t>
            </a:r>
          </a:p>
          <a:p>
            <a:pPr>
              <a:lnSpc>
                <a:spcPct val="100000"/>
              </a:lnSpc>
              <a:spcBef>
                <a:spcPts val="1755"/>
              </a:spcBef>
            </a:pPr>
            <a:endParaRPr spc="55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pc="-25" dirty="0"/>
              <a:t>05</a:t>
            </a: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2100" spc="195" dirty="0">
                <a:latin typeface="Cambria"/>
                <a:cs typeface="Cambria"/>
              </a:rPr>
              <a:t>Data</a:t>
            </a:r>
            <a:r>
              <a:rPr sz="2100" spc="155" dirty="0">
                <a:latin typeface="Cambria"/>
                <a:cs typeface="Cambria"/>
              </a:rPr>
              <a:t> </a:t>
            </a:r>
            <a:r>
              <a:rPr sz="2100" spc="185" dirty="0">
                <a:latin typeface="Cambria"/>
                <a:cs typeface="Cambria"/>
              </a:rPr>
              <a:t>Consistency</a:t>
            </a:r>
            <a:endParaRPr sz="2100">
              <a:latin typeface="Cambria"/>
              <a:cs typeface="Cambria"/>
            </a:endParaRPr>
          </a:p>
          <a:p>
            <a:pPr marL="12700" marR="1283970">
              <a:lnSpc>
                <a:spcPct val="132400"/>
              </a:lnSpc>
              <a:spcBef>
                <a:spcPts val="910"/>
              </a:spcBef>
            </a:pPr>
            <a:r>
              <a:rPr spc="10" dirty="0">
                <a:latin typeface="Arial MT"/>
                <a:cs typeface="Arial MT"/>
              </a:rPr>
              <a:t>Verified</a:t>
            </a:r>
            <a:r>
              <a:rPr spc="95" dirty="0">
                <a:latin typeface="Arial MT"/>
                <a:cs typeface="Arial MT"/>
              </a:rPr>
              <a:t> </a:t>
            </a:r>
            <a:r>
              <a:rPr spc="50" dirty="0">
                <a:latin typeface="Arial MT"/>
                <a:cs typeface="Arial MT"/>
              </a:rPr>
              <a:t>redundancy</a:t>
            </a:r>
            <a:r>
              <a:rPr spc="95" dirty="0">
                <a:latin typeface="Arial MT"/>
                <a:cs typeface="Arial MT"/>
              </a:rPr>
              <a:t> </a:t>
            </a:r>
            <a:r>
              <a:rPr spc="50" dirty="0">
                <a:latin typeface="Arial MT"/>
                <a:cs typeface="Arial MT"/>
              </a:rPr>
              <a:t>between</a:t>
            </a:r>
            <a:r>
              <a:rPr spc="85" dirty="0">
                <a:latin typeface="Arial MT"/>
                <a:cs typeface="Arial MT"/>
              </a:rPr>
              <a:t> </a:t>
            </a:r>
            <a:r>
              <a:rPr spc="10" dirty="0">
                <a:latin typeface="Arial MT"/>
                <a:cs typeface="Arial MT"/>
              </a:rPr>
              <a:t>discount_applied</a:t>
            </a:r>
            <a:r>
              <a:rPr spc="90" dirty="0">
                <a:latin typeface="Arial MT"/>
                <a:cs typeface="Arial MT"/>
              </a:rPr>
              <a:t> </a:t>
            </a:r>
            <a:r>
              <a:rPr spc="30" dirty="0">
                <a:latin typeface="Arial MT"/>
                <a:cs typeface="Arial MT"/>
              </a:rPr>
              <a:t>and </a:t>
            </a:r>
            <a:r>
              <a:rPr dirty="0">
                <a:latin typeface="Arial MT"/>
                <a:cs typeface="Arial MT"/>
              </a:rPr>
              <a:t>promo_code_used,</a:t>
            </a:r>
            <a:r>
              <a:rPr spc="120" dirty="0">
                <a:latin typeface="Arial MT"/>
                <a:cs typeface="Arial MT"/>
              </a:rPr>
              <a:t> </a:t>
            </a:r>
            <a:r>
              <a:rPr spc="75" dirty="0">
                <a:latin typeface="Arial MT"/>
                <a:cs typeface="Arial MT"/>
              </a:rPr>
              <a:t>dropped</a:t>
            </a:r>
            <a:r>
              <a:rPr spc="130" dirty="0">
                <a:latin typeface="Arial MT"/>
                <a:cs typeface="Arial MT"/>
              </a:rPr>
              <a:t> </a:t>
            </a:r>
            <a:r>
              <a:rPr spc="35" dirty="0">
                <a:latin typeface="Arial MT"/>
                <a:cs typeface="Arial MT"/>
              </a:rPr>
              <a:t>duplicate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11593" y="5834634"/>
            <a:ext cx="24511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48485A"/>
                </a:solidFill>
                <a:latin typeface="Calibri"/>
                <a:cs typeface="Calibri"/>
              </a:rPr>
              <a:t>06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11593" y="6291833"/>
            <a:ext cx="6125210" cy="14507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70" dirty="0">
                <a:solidFill>
                  <a:srgbClr val="48485A"/>
                </a:solidFill>
                <a:latin typeface="Cambria"/>
                <a:cs typeface="Cambria"/>
              </a:rPr>
              <a:t>Database </a:t>
            </a:r>
            <a:r>
              <a:rPr sz="2100" spc="160" dirty="0">
                <a:solidFill>
                  <a:srgbClr val="48485A"/>
                </a:solidFill>
                <a:latin typeface="Cambria"/>
                <a:cs typeface="Cambria"/>
              </a:rPr>
              <a:t>Integration</a:t>
            </a:r>
            <a:endParaRPr sz="2100" dirty="0">
              <a:latin typeface="Cambria"/>
              <a:cs typeface="Cambria"/>
            </a:endParaRPr>
          </a:p>
          <a:p>
            <a:pPr marL="12700" marR="5080">
              <a:lnSpc>
                <a:spcPct val="132400"/>
              </a:lnSpc>
              <a:spcBef>
                <a:spcPts val="910"/>
              </a:spcBef>
            </a:pPr>
            <a:r>
              <a:rPr lang="en-US" sz="1700" dirty="0">
                <a:solidFill>
                  <a:srgbClr val="48485A"/>
                </a:solidFill>
                <a:latin typeface="Arial MT"/>
                <a:cs typeface="Arial MT"/>
              </a:rPr>
              <a:t>Integrated cleaned customer shopping dataset into SQL Server and performed advanced analytical queries for business insights.</a:t>
            </a:r>
            <a:endParaRPr sz="17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149" y="286588"/>
            <a:ext cx="24777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29" dirty="0"/>
              <a:t>Revenue</a:t>
            </a:r>
            <a:r>
              <a:rPr sz="2200" spc="175" dirty="0"/>
              <a:t> </a:t>
            </a:r>
            <a:r>
              <a:rPr sz="2200" spc="150" dirty="0"/>
              <a:t>Insights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384149" y="933958"/>
            <a:ext cx="5024755" cy="510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135" dirty="0">
                <a:solidFill>
                  <a:srgbClr val="403BCF"/>
                </a:solidFill>
                <a:latin typeface="Cambria"/>
                <a:cs typeface="Cambria"/>
              </a:rPr>
              <a:t>Revenue</a:t>
            </a:r>
            <a:r>
              <a:rPr sz="1300" spc="140" dirty="0">
                <a:solidFill>
                  <a:srgbClr val="403BCF"/>
                </a:solidFill>
                <a:latin typeface="Cambria"/>
                <a:cs typeface="Cambria"/>
              </a:rPr>
              <a:t> </a:t>
            </a:r>
            <a:r>
              <a:rPr sz="1300" spc="150" dirty="0">
                <a:solidFill>
                  <a:srgbClr val="403BCF"/>
                </a:solidFill>
                <a:latin typeface="Cambria"/>
                <a:cs typeface="Cambria"/>
              </a:rPr>
              <a:t>by</a:t>
            </a:r>
            <a:r>
              <a:rPr sz="1300" spc="100" dirty="0">
                <a:solidFill>
                  <a:srgbClr val="403BCF"/>
                </a:solidFill>
                <a:latin typeface="Cambria"/>
                <a:cs typeface="Cambria"/>
              </a:rPr>
              <a:t> </a:t>
            </a:r>
            <a:r>
              <a:rPr sz="1300" spc="145" dirty="0">
                <a:solidFill>
                  <a:srgbClr val="403BCF"/>
                </a:solidFill>
                <a:latin typeface="Cambria"/>
                <a:cs typeface="Cambria"/>
              </a:rPr>
              <a:t>Gender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Male</a:t>
            </a:r>
            <a:r>
              <a:rPr sz="850" spc="10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customers</a:t>
            </a:r>
            <a:r>
              <a:rPr sz="8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generated</a:t>
            </a:r>
            <a:r>
              <a:rPr sz="850" spc="10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b="1" dirty="0">
                <a:solidFill>
                  <a:srgbClr val="403BCF"/>
                </a:solidFill>
                <a:latin typeface="Arial"/>
                <a:cs typeface="Arial"/>
              </a:rPr>
              <a:t>$157,890</a:t>
            </a:r>
            <a:r>
              <a:rPr sz="850" b="1" spc="90" dirty="0">
                <a:solidFill>
                  <a:srgbClr val="403BC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in</a:t>
            </a:r>
            <a:r>
              <a:rPr sz="850" spc="7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total</a:t>
            </a:r>
            <a:r>
              <a:rPr sz="850" spc="114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revenue</a:t>
            </a:r>
            <a:r>
              <a:rPr sz="850" spc="10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compared</a:t>
            </a:r>
            <a:r>
              <a:rPr sz="850" spc="1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to</a:t>
            </a:r>
            <a:r>
              <a:rPr sz="850" spc="114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b="1" dirty="0">
                <a:solidFill>
                  <a:srgbClr val="403BCF"/>
                </a:solidFill>
                <a:latin typeface="Arial"/>
                <a:cs typeface="Arial"/>
              </a:rPr>
              <a:t>$78,191</a:t>
            </a:r>
            <a:r>
              <a:rPr sz="850" b="1" spc="110" dirty="0">
                <a:solidFill>
                  <a:srgbClr val="403BCF"/>
                </a:solidFill>
                <a:latin typeface="Arial"/>
                <a:cs typeface="Arial"/>
              </a:rPr>
              <a:t> </a:t>
            </a:r>
            <a:r>
              <a:rPr sz="850" spc="50" dirty="0">
                <a:solidFill>
                  <a:srgbClr val="48485A"/>
                </a:solidFill>
                <a:latin typeface="Arial MT"/>
                <a:cs typeface="Arial MT"/>
              </a:rPr>
              <a:t>from</a:t>
            </a:r>
            <a:r>
              <a:rPr sz="850" spc="6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female</a:t>
            </a:r>
            <a:r>
              <a:rPr sz="850" spc="10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48485A"/>
                </a:solidFill>
                <a:latin typeface="Arial MT"/>
                <a:cs typeface="Arial MT"/>
              </a:rPr>
              <a:t>customers.</a:t>
            </a:r>
            <a:endParaRPr sz="8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836" y="1584477"/>
            <a:ext cx="6780022" cy="664511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49057" y="933958"/>
            <a:ext cx="4726940" cy="794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135" dirty="0">
                <a:solidFill>
                  <a:srgbClr val="403BCF"/>
                </a:solidFill>
                <a:latin typeface="Cambria"/>
                <a:cs typeface="Cambria"/>
              </a:rPr>
              <a:t>Shipping</a:t>
            </a:r>
            <a:r>
              <a:rPr sz="1300" spc="120" dirty="0">
                <a:solidFill>
                  <a:srgbClr val="403BCF"/>
                </a:solidFill>
                <a:latin typeface="Cambria"/>
                <a:cs typeface="Cambria"/>
              </a:rPr>
              <a:t> </a:t>
            </a:r>
            <a:r>
              <a:rPr sz="1300" spc="170" dirty="0">
                <a:solidFill>
                  <a:srgbClr val="403BCF"/>
                </a:solidFill>
                <a:latin typeface="Cambria"/>
                <a:cs typeface="Cambria"/>
              </a:rPr>
              <a:t>Type</a:t>
            </a:r>
            <a:r>
              <a:rPr sz="1300" spc="120" dirty="0">
                <a:solidFill>
                  <a:srgbClr val="403BCF"/>
                </a:solidFill>
                <a:latin typeface="Cambria"/>
                <a:cs typeface="Cambria"/>
              </a:rPr>
              <a:t> </a:t>
            </a:r>
            <a:r>
              <a:rPr sz="1300" spc="125" dirty="0">
                <a:solidFill>
                  <a:srgbClr val="403BCF"/>
                </a:solidFill>
                <a:latin typeface="Cambria"/>
                <a:cs typeface="Cambria"/>
              </a:rPr>
              <a:t>Impact</a:t>
            </a:r>
            <a:endParaRPr sz="1300">
              <a:latin typeface="Cambria"/>
              <a:cs typeface="Cambria"/>
            </a:endParaRPr>
          </a:p>
          <a:p>
            <a:pPr marL="12700" marR="5080">
              <a:lnSpc>
                <a:spcPct val="218800"/>
              </a:lnSpc>
              <a:spcBef>
                <a:spcPts val="30"/>
              </a:spcBef>
            </a:pP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Express</a:t>
            </a:r>
            <a:r>
              <a:rPr sz="8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shipping</a:t>
            </a:r>
            <a:r>
              <a:rPr sz="850" spc="7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customers</a:t>
            </a:r>
            <a:r>
              <a:rPr sz="850" spc="5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spend</a:t>
            </a:r>
            <a:r>
              <a:rPr sz="850" spc="7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an</a:t>
            </a:r>
            <a:r>
              <a:rPr sz="8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average</a:t>
            </a:r>
            <a:r>
              <a:rPr sz="8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of</a:t>
            </a:r>
            <a:r>
              <a:rPr sz="850" spc="8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b="1" dirty="0">
                <a:solidFill>
                  <a:srgbClr val="403BCF"/>
                </a:solidFill>
                <a:latin typeface="Arial"/>
                <a:cs typeface="Arial"/>
              </a:rPr>
              <a:t>$60.48</a:t>
            </a:r>
            <a:r>
              <a:rPr sz="850" b="1" spc="60" dirty="0">
                <a:solidFill>
                  <a:srgbClr val="403BC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versus</a:t>
            </a:r>
            <a:r>
              <a:rPr sz="850" spc="2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b="1" dirty="0">
                <a:solidFill>
                  <a:srgbClr val="48485A"/>
                </a:solidFill>
                <a:latin typeface="Arial"/>
                <a:cs typeface="Arial"/>
              </a:rPr>
              <a:t>$58.46</a:t>
            </a:r>
            <a:r>
              <a:rPr sz="850" b="1" spc="60" dirty="0">
                <a:solidFill>
                  <a:srgbClr val="48485A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for</a:t>
            </a:r>
            <a:r>
              <a:rPr sz="850" spc="3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Standard</a:t>
            </a:r>
            <a:r>
              <a:rPr sz="850" spc="10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48485A"/>
                </a:solidFill>
                <a:latin typeface="Arial MT"/>
                <a:cs typeface="Arial MT"/>
              </a:rPr>
              <a:t>shipping. </a:t>
            </a:r>
            <a:r>
              <a:rPr sz="850" spc="10" dirty="0">
                <a:solidFill>
                  <a:srgbClr val="48485A"/>
                </a:solidFill>
                <a:latin typeface="Arial MT"/>
                <a:cs typeface="Arial MT"/>
              </a:rPr>
              <a:t>Higher-value</a:t>
            </a:r>
            <a:r>
              <a:rPr sz="850" spc="6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48485A"/>
                </a:solidFill>
                <a:latin typeface="Arial MT"/>
                <a:cs typeface="Arial MT"/>
              </a:rPr>
              <a:t>customers</a:t>
            </a:r>
            <a:r>
              <a:rPr sz="850" spc="3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48485A"/>
                </a:solidFill>
                <a:latin typeface="Arial MT"/>
                <a:cs typeface="Arial MT"/>
              </a:rPr>
              <a:t>prefer</a:t>
            </a:r>
            <a:r>
              <a:rPr sz="850" spc="8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48485A"/>
                </a:solidFill>
                <a:latin typeface="Arial MT"/>
                <a:cs typeface="Arial MT"/>
              </a:rPr>
              <a:t>faster</a:t>
            </a:r>
            <a:r>
              <a:rPr sz="850" spc="7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48485A"/>
                </a:solidFill>
                <a:latin typeface="Arial MT"/>
                <a:cs typeface="Arial MT"/>
              </a:rPr>
              <a:t>delivery</a:t>
            </a:r>
            <a:r>
              <a:rPr sz="850" spc="7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48485A"/>
                </a:solidFill>
                <a:latin typeface="Arial MT"/>
                <a:cs typeface="Arial MT"/>
              </a:rPr>
              <a:t>options.</a:t>
            </a:r>
            <a:endParaRPr sz="85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1122" y="1867916"/>
            <a:ext cx="6780021" cy="37967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149" y="286588"/>
            <a:ext cx="43776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00" dirty="0"/>
              <a:t>Product</a:t>
            </a:r>
            <a:r>
              <a:rPr sz="2200" spc="185" dirty="0"/>
              <a:t> </a:t>
            </a:r>
            <a:r>
              <a:rPr sz="2200" spc="225" dirty="0"/>
              <a:t>Performance</a:t>
            </a:r>
            <a:r>
              <a:rPr sz="2200" spc="220" dirty="0"/>
              <a:t> </a:t>
            </a:r>
            <a:r>
              <a:rPr sz="2200" spc="150" dirty="0"/>
              <a:t>Analysis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384149" y="933958"/>
            <a:ext cx="21748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190" dirty="0">
                <a:solidFill>
                  <a:srgbClr val="403BCF"/>
                </a:solidFill>
                <a:latin typeface="Cambria"/>
                <a:cs typeface="Cambria"/>
              </a:rPr>
              <a:t>Top</a:t>
            </a:r>
            <a:r>
              <a:rPr sz="1300" spc="120" dirty="0">
                <a:solidFill>
                  <a:srgbClr val="403BCF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403BCF"/>
                </a:solidFill>
                <a:latin typeface="Cambria"/>
                <a:cs typeface="Cambria"/>
              </a:rPr>
              <a:t>5</a:t>
            </a:r>
            <a:r>
              <a:rPr sz="1300" spc="95" dirty="0">
                <a:solidFill>
                  <a:srgbClr val="403BCF"/>
                </a:solidFill>
                <a:latin typeface="Cambria"/>
                <a:cs typeface="Cambria"/>
              </a:rPr>
              <a:t> </a:t>
            </a:r>
            <a:r>
              <a:rPr sz="1300" spc="105" dirty="0">
                <a:solidFill>
                  <a:srgbClr val="403BCF"/>
                </a:solidFill>
                <a:latin typeface="Cambria"/>
                <a:cs typeface="Cambria"/>
              </a:rPr>
              <a:t>Products</a:t>
            </a:r>
            <a:r>
              <a:rPr sz="1300" spc="110" dirty="0">
                <a:solidFill>
                  <a:srgbClr val="403BCF"/>
                </a:solidFill>
                <a:latin typeface="Cambria"/>
                <a:cs typeface="Cambria"/>
              </a:rPr>
              <a:t> </a:t>
            </a:r>
            <a:r>
              <a:rPr sz="1300" spc="150" dirty="0">
                <a:solidFill>
                  <a:srgbClr val="403BCF"/>
                </a:solidFill>
                <a:latin typeface="Cambria"/>
                <a:cs typeface="Cambria"/>
              </a:rPr>
              <a:t>by</a:t>
            </a:r>
            <a:r>
              <a:rPr sz="1300" spc="100" dirty="0">
                <a:solidFill>
                  <a:srgbClr val="403BCF"/>
                </a:solidFill>
                <a:latin typeface="Cambria"/>
                <a:cs typeface="Cambria"/>
              </a:rPr>
              <a:t> </a:t>
            </a:r>
            <a:r>
              <a:rPr sz="1300" spc="105" dirty="0">
                <a:solidFill>
                  <a:srgbClr val="403BCF"/>
                </a:solidFill>
                <a:latin typeface="Cambria"/>
                <a:cs typeface="Cambria"/>
              </a:rPr>
              <a:t>Rating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6836" y="1444497"/>
            <a:ext cx="6780530" cy="899794"/>
            <a:chOff x="396836" y="1444497"/>
            <a:chExt cx="6780530" cy="899794"/>
          </a:xfrm>
        </p:grpSpPr>
        <p:sp>
          <p:nvSpPr>
            <p:cNvPr id="5" name="object 5"/>
            <p:cNvSpPr/>
            <p:nvPr/>
          </p:nvSpPr>
          <p:spPr>
            <a:xfrm>
              <a:off x="396836" y="1459737"/>
              <a:ext cx="6780530" cy="884555"/>
            </a:xfrm>
            <a:custGeom>
              <a:avLst/>
              <a:gdLst/>
              <a:ahLst/>
              <a:cxnLst/>
              <a:rect l="l" t="t" r="r" b="b"/>
              <a:pathLst>
                <a:path w="6780530" h="884555">
                  <a:moveTo>
                    <a:pt x="670690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810894"/>
                  </a:lnTo>
                  <a:lnTo>
                    <a:pt x="5748" y="839362"/>
                  </a:lnTo>
                  <a:lnTo>
                    <a:pt x="21426" y="862615"/>
                  </a:lnTo>
                  <a:lnTo>
                    <a:pt x="44678" y="878296"/>
                  </a:lnTo>
                  <a:lnTo>
                    <a:pt x="73151" y="884046"/>
                  </a:lnTo>
                  <a:lnTo>
                    <a:pt x="6706908" y="884046"/>
                  </a:lnTo>
                  <a:lnTo>
                    <a:pt x="6735375" y="878296"/>
                  </a:lnTo>
                  <a:lnTo>
                    <a:pt x="6758628" y="862615"/>
                  </a:lnTo>
                  <a:lnTo>
                    <a:pt x="6774309" y="839362"/>
                  </a:lnTo>
                  <a:lnTo>
                    <a:pt x="6780060" y="810894"/>
                  </a:lnTo>
                  <a:lnTo>
                    <a:pt x="6780060" y="73151"/>
                  </a:lnTo>
                  <a:lnTo>
                    <a:pt x="6774309" y="44684"/>
                  </a:lnTo>
                  <a:lnTo>
                    <a:pt x="6758628" y="21431"/>
                  </a:lnTo>
                  <a:lnTo>
                    <a:pt x="6735375" y="5750"/>
                  </a:lnTo>
                  <a:lnTo>
                    <a:pt x="6706908" y="0"/>
                  </a:lnTo>
                  <a:close/>
                </a:path>
              </a:pathLst>
            </a:custGeom>
            <a:solidFill>
              <a:srgbClr val="FA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836" y="1444497"/>
              <a:ext cx="6780022" cy="6095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06495" y="1389633"/>
            <a:ext cx="857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7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2775" y="1724660"/>
            <a:ext cx="989965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105" dirty="0">
                <a:solidFill>
                  <a:srgbClr val="48485A"/>
                </a:solidFill>
                <a:latin typeface="Cambria"/>
                <a:cs typeface="Cambria"/>
              </a:rPr>
              <a:t>Gloves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3.86</a:t>
            </a:r>
            <a:r>
              <a:rPr sz="850" spc="-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average</a:t>
            </a:r>
            <a:r>
              <a:rPr sz="850" spc="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48485A"/>
                </a:solidFill>
                <a:latin typeface="Arial MT"/>
                <a:cs typeface="Arial MT"/>
              </a:rPr>
              <a:t>rating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6836" y="2611882"/>
            <a:ext cx="6780530" cy="899794"/>
            <a:chOff x="396836" y="2611882"/>
            <a:chExt cx="6780530" cy="899794"/>
          </a:xfrm>
        </p:grpSpPr>
        <p:sp>
          <p:nvSpPr>
            <p:cNvPr id="10" name="object 10"/>
            <p:cNvSpPr/>
            <p:nvPr/>
          </p:nvSpPr>
          <p:spPr>
            <a:xfrm>
              <a:off x="396836" y="2627122"/>
              <a:ext cx="6780530" cy="884555"/>
            </a:xfrm>
            <a:custGeom>
              <a:avLst/>
              <a:gdLst/>
              <a:ahLst/>
              <a:cxnLst/>
              <a:rect l="l" t="t" r="r" b="b"/>
              <a:pathLst>
                <a:path w="6780530" h="884554">
                  <a:moveTo>
                    <a:pt x="670690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810894"/>
                  </a:lnTo>
                  <a:lnTo>
                    <a:pt x="5748" y="839362"/>
                  </a:lnTo>
                  <a:lnTo>
                    <a:pt x="21426" y="862615"/>
                  </a:lnTo>
                  <a:lnTo>
                    <a:pt x="44678" y="878296"/>
                  </a:lnTo>
                  <a:lnTo>
                    <a:pt x="73151" y="884047"/>
                  </a:lnTo>
                  <a:lnTo>
                    <a:pt x="6706908" y="884047"/>
                  </a:lnTo>
                  <a:lnTo>
                    <a:pt x="6735375" y="878296"/>
                  </a:lnTo>
                  <a:lnTo>
                    <a:pt x="6758628" y="862615"/>
                  </a:lnTo>
                  <a:lnTo>
                    <a:pt x="6774309" y="839362"/>
                  </a:lnTo>
                  <a:lnTo>
                    <a:pt x="6780060" y="810894"/>
                  </a:lnTo>
                  <a:lnTo>
                    <a:pt x="6780060" y="73151"/>
                  </a:lnTo>
                  <a:lnTo>
                    <a:pt x="6774309" y="44684"/>
                  </a:lnTo>
                  <a:lnTo>
                    <a:pt x="6758628" y="21431"/>
                  </a:lnTo>
                  <a:lnTo>
                    <a:pt x="6735375" y="5750"/>
                  </a:lnTo>
                  <a:lnTo>
                    <a:pt x="6706908" y="0"/>
                  </a:lnTo>
                  <a:close/>
                </a:path>
              </a:pathLst>
            </a:custGeom>
            <a:solidFill>
              <a:srgbClr val="FA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836" y="2611882"/>
              <a:ext cx="6780022" cy="6096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706495" y="2557398"/>
            <a:ext cx="1085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5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775" y="2892298"/>
            <a:ext cx="989965" cy="47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80" dirty="0">
                <a:solidFill>
                  <a:srgbClr val="48485A"/>
                </a:solidFill>
                <a:latin typeface="Cambria"/>
                <a:cs typeface="Cambria"/>
              </a:rPr>
              <a:t>Sandals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3.84</a:t>
            </a:r>
            <a:r>
              <a:rPr sz="850" spc="-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average</a:t>
            </a:r>
            <a:r>
              <a:rPr sz="850" spc="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48485A"/>
                </a:solidFill>
                <a:latin typeface="Arial MT"/>
                <a:cs typeface="Arial MT"/>
              </a:rPr>
              <a:t>rating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96836" y="3779265"/>
            <a:ext cx="6780530" cy="899794"/>
            <a:chOff x="396836" y="3779265"/>
            <a:chExt cx="6780530" cy="899794"/>
          </a:xfrm>
        </p:grpSpPr>
        <p:sp>
          <p:nvSpPr>
            <p:cNvPr id="15" name="object 15"/>
            <p:cNvSpPr/>
            <p:nvPr/>
          </p:nvSpPr>
          <p:spPr>
            <a:xfrm>
              <a:off x="396836" y="3794505"/>
              <a:ext cx="6780530" cy="884555"/>
            </a:xfrm>
            <a:custGeom>
              <a:avLst/>
              <a:gdLst/>
              <a:ahLst/>
              <a:cxnLst/>
              <a:rect l="l" t="t" r="r" b="b"/>
              <a:pathLst>
                <a:path w="6780530" h="884554">
                  <a:moveTo>
                    <a:pt x="670690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810895"/>
                  </a:lnTo>
                  <a:lnTo>
                    <a:pt x="5748" y="839362"/>
                  </a:lnTo>
                  <a:lnTo>
                    <a:pt x="21426" y="862615"/>
                  </a:lnTo>
                  <a:lnTo>
                    <a:pt x="44678" y="878296"/>
                  </a:lnTo>
                  <a:lnTo>
                    <a:pt x="73151" y="884047"/>
                  </a:lnTo>
                  <a:lnTo>
                    <a:pt x="6706908" y="884047"/>
                  </a:lnTo>
                  <a:lnTo>
                    <a:pt x="6735375" y="878296"/>
                  </a:lnTo>
                  <a:lnTo>
                    <a:pt x="6758628" y="862615"/>
                  </a:lnTo>
                  <a:lnTo>
                    <a:pt x="6774309" y="839362"/>
                  </a:lnTo>
                  <a:lnTo>
                    <a:pt x="6780060" y="810895"/>
                  </a:lnTo>
                  <a:lnTo>
                    <a:pt x="6780060" y="73152"/>
                  </a:lnTo>
                  <a:lnTo>
                    <a:pt x="6774309" y="44684"/>
                  </a:lnTo>
                  <a:lnTo>
                    <a:pt x="6758628" y="21431"/>
                  </a:lnTo>
                  <a:lnTo>
                    <a:pt x="6735375" y="5750"/>
                  </a:lnTo>
                  <a:lnTo>
                    <a:pt x="6706908" y="0"/>
                  </a:lnTo>
                  <a:close/>
                </a:path>
              </a:pathLst>
            </a:custGeom>
            <a:solidFill>
              <a:srgbClr val="FA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836" y="3779265"/>
              <a:ext cx="6780022" cy="6096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706495" y="3725036"/>
            <a:ext cx="1085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5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2775" y="4060063"/>
            <a:ext cx="989965" cy="478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85" dirty="0">
                <a:solidFill>
                  <a:srgbClr val="48485A"/>
                </a:solidFill>
                <a:latin typeface="Cambria"/>
                <a:cs typeface="Cambria"/>
              </a:rPr>
              <a:t>Boots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3.82</a:t>
            </a:r>
            <a:r>
              <a:rPr sz="850" spc="-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average</a:t>
            </a:r>
            <a:r>
              <a:rPr sz="850" spc="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48485A"/>
                </a:solidFill>
                <a:latin typeface="Arial MT"/>
                <a:cs typeface="Arial MT"/>
              </a:rPr>
              <a:t>rating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6836" y="4946650"/>
            <a:ext cx="6780530" cy="899794"/>
            <a:chOff x="396836" y="4946650"/>
            <a:chExt cx="6780530" cy="899794"/>
          </a:xfrm>
        </p:grpSpPr>
        <p:sp>
          <p:nvSpPr>
            <p:cNvPr id="20" name="object 20"/>
            <p:cNvSpPr/>
            <p:nvPr/>
          </p:nvSpPr>
          <p:spPr>
            <a:xfrm>
              <a:off x="396836" y="4961890"/>
              <a:ext cx="6780530" cy="884555"/>
            </a:xfrm>
            <a:custGeom>
              <a:avLst/>
              <a:gdLst/>
              <a:ahLst/>
              <a:cxnLst/>
              <a:rect l="l" t="t" r="r" b="b"/>
              <a:pathLst>
                <a:path w="6780530" h="884554">
                  <a:moveTo>
                    <a:pt x="670690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810895"/>
                  </a:lnTo>
                  <a:lnTo>
                    <a:pt x="5748" y="839362"/>
                  </a:lnTo>
                  <a:lnTo>
                    <a:pt x="21426" y="862615"/>
                  </a:lnTo>
                  <a:lnTo>
                    <a:pt x="44678" y="878296"/>
                  </a:lnTo>
                  <a:lnTo>
                    <a:pt x="73151" y="884047"/>
                  </a:lnTo>
                  <a:lnTo>
                    <a:pt x="6706908" y="884047"/>
                  </a:lnTo>
                  <a:lnTo>
                    <a:pt x="6735375" y="878296"/>
                  </a:lnTo>
                  <a:lnTo>
                    <a:pt x="6758628" y="862615"/>
                  </a:lnTo>
                  <a:lnTo>
                    <a:pt x="6774309" y="839362"/>
                  </a:lnTo>
                  <a:lnTo>
                    <a:pt x="6780060" y="810895"/>
                  </a:lnTo>
                  <a:lnTo>
                    <a:pt x="6780060" y="73152"/>
                  </a:lnTo>
                  <a:lnTo>
                    <a:pt x="6774309" y="44684"/>
                  </a:lnTo>
                  <a:lnTo>
                    <a:pt x="6758628" y="21431"/>
                  </a:lnTo>
                  <a:lnTo>
                    <a:pt x="6735375" y="5750"/>
                  </a:lnTo>
                  <a:lnTo>
                    <a:pt x="6706908" y="0"/>
                  </a:lnTo>
                  <a:close/>
                </a:path>
              </a:pathLst>
            </a:custGeom>
            <a:solidFill>
              <a:srgbClr val="FA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836" y="4946650"/>
              <a:ext cx="6780022" cy="6096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706495" y="4892802"/>
            <a:ext cx="104139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2775" y="5227701"/>
            <a:ext cx="989965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100" dirty="0">
                <a:solidFill>
                  <a:srgbClr val="48485A"/>
                </a:solidFill>
                <a:latin typeface="Cambria"/>
                <a:cs typeface="Cambria"/>
              </a:rPr>
              <a:t>Hat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3.80</a:t>
            </a:r>
            <a:r>
              <a:rPr sz="850" spc="-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average</a:t>
            </a:r>
            <a:r>
              <a:rPr sz="850" spc="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48485A"/>
                </a:solidFill>
                <a:latin typeface="Arial MT"/>
                <a:cs typeface="Arial MT"/>
              </a:rPr>
              <a:t>rating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96836" y="6114160"/>
            <a:ext cx="6780530" cy="899794"/>
            <a:chOff x="396836" y="6114160"/>
            <a:chExt cx="6780530" cy="899794"/>
          </a:xfrm>
        </p:grpSpPr>
        <p:sp>
          <p:nvSpPr>
            <p:cNvPr id="25" name="object 25"/>
            <p:cNvSpPr/>
            <p:nvPr/>
          </p:nvSpPr>
          <p:spPr>
            <a:xfrm>
              <a:off x="396836" y="6129273"/>
              <a:ext cx="6780530" cy="884555"/>
            </a:xfrm>
            <a:custGeom>
              <a:avLst/>
              <a:gdLst/>
              <a:ahLst/>
              <a:cxnLst/>
              <a:rect l="l" t="t" r="r" b="b"/>
              <a:pathLst>
                <a:path w="6780530" h="884554">
                  <a:moveTo>
                    <a:pt x="6706908" y="0"/>
                  </a:moveTo>
                  <a:lnTo>
                    <a:pt x="73151" y="0"/>
                  </a:lnTo>
                  <a:lnTo>
                    <a:pt x="44678" y="5752"/>
                  </a:lnTo>
                  <a:lnTo>
                    <a:pt x="21426" y="21447"/>
                  </a:lnTo>
                  <a:lnTo>
                    <a:pt x="5748" y="44737"/>
                  </a:lnTo>
                  <a:lnTo>
                    <a:pt x="0" y="73278"/>
                  </a:lnTo>
                  <a:lnTo>
                    <a:pt x="0" y="810894"/>
                  </a:lnTo>
                  <a:lnTo>
                    <a:pt x="5748" y="839397"/>
                  </a:lnTo>
                  <a:lnTo>
                    <a:pt x="21426" y="862664"/>
                  </a:lnTo>
                  <a:lnTo>
                    <a:pt x="44678" y="878348"/>
                  </a:lnTo>
                  <a:lnTo>
                    <a:pt x="73151" y="884097"/>
                  </a:lnTo>
                  <a:lnTo>
                    <a:pt x="6706908" y="884097"/>
                  </a:lnTo>
                  <a:lnTo>
                    <a:pt x="6735375" y="878348"/>
                  </a:lnTo>
                  <a:lnTo>
                    <a:pt x="6758628" y="862664"/>
                  </a:lnTo>
                  <a:lnTo>
                    <a:pt x="6774309" y="839397"/>
                  </a:lnTo>
                  <a:lnTo>
                    <a:pt x="6780060" y="810894"/>
                  </a:lnTo>
                  <a:lnTo>
                    <a:pt x="6780060" y="73278"/>
                  </a:lnTo>
                  <a:lnTo>
                    <a:pt x="6774309" y="44737"/>
                  </a:lnTo>
                  <a:lnTo>
                    <a:pt x="6758628" y="21447"/>
                  </a:lnTo>
                  <a:lnTo>
                    <a:pt x="6735375" y="5752"/>
                  </a:lnTo>
                  <a:lnTo>
                    <a:pt x="6706908" y="0"/>
                  </a:lnTo>
                  <a:close/>
                </a:path>
              </a:pathLst>
            </a:custGeom>
            <a:solidFill>
              <a:srgbClr val="FA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836" y="6114160"/>
              <a:ext cx="6780022" cy="60833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706495" y="6060185"/>
            <a:ext cx="1016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2775" y="6395465"/>
            <a:ext cx="3695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75" dirty="0">
                <a:solidFill>
                  <a:srgbClr val="48485A"/>
                </a:solidFill>
                <a:latin typeface="Cambria"/>
                <a:cs typeface="Cambria"/>
              </a:rPr>
              <a:t>Skirt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2775" y="6717918"/>
            <a:ext cx="9899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3.78</a:t>
            </a:r>
            <a:r>
              <a:rPr sz="850" spc="-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48485A"/>
                </a:solidFill>
                <a:latin typeface="Arial MT"/>
                <a:cs typeface="Arial MT"/>
              </a:rPr>
              <a:t>average</a:t>
            </a:r>
            <a:r>
              <a:rPr sz="850" spc="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48485A"/>
                </a:solidFill>
                <a:latin typeface="Arial MT"/>
                <a:cs typeface="Arial MT"/>
              </a:rPr>
              <a:t>rating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49057" y="933958"/>
            <a:ext cx="3200400" cy="510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125" dirty="0">
                <a:solidFill>
                  <a:srgbClr val="403BCF"/>
                </a:solidFill>
                <a:latin typeface="Cambria"/>
                <a:cs typeface="Cambria"/>
              </a:rPr>
              <a:t>Discount-</a:t>
            </a:r>
            <a:r>
              <a:rPr sz="1300" spc="135" dirty="0">
                <a:solidFill>
                  <a:srgbClr val="403BCF"/>
                </a:solidFill>
                <a:latin typeface="Cambria"/>
                <a:cs typeface="Cambria"/>
              </a:rPr>
              <a:t>Dependent</a:t>
            </a:r>
            <a:r>
              <a:rPr sz="1300" spc="204" dirty="0">
                <a:solidFill>
                  <a:srgbClr val="403BCF"/>
                </a:solidFill>
                <a:latin typeface="Cambria"/>
                <a:cs typeface="Cambria"/>
              </a:rPr>
              <a:t> </a:t>
            </a:r>
            <a:r>
              <a:rPr sz="1300" spc="95" dirty="0">
                <a:solidFill>
                  <a:srgbClr val="403BCF"/>
                </a:solidFill>
                <a:latin typeface="Cambria"/>
                <a:cs typeface="Cambria"/>
              </a:rPr>
              <a:t>Products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850" spc="10" dirty="0">
                <a:solidFill>
                  <a:srgbClr val="48485A"/>
                </a:solidFill>
                <a:latin typeface="Arial MT"/>
                <a:cs typeface="Arial MT"/>
              </a:rPr>
              <a:t>Products</a:t>
            </a:r>
            <a:r>
              <a:rPr sz="850" spc="8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48485A"/>
                </a:solidFill>
                <a:latin typeface="Arial MT"/>
                <a:cs typeface="Arial MT"/>
              </a:rPr>
              <a:t>with</a:t>
            </a:r>
            <a:r>
              <a:rPr sz="850" spc="7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48485A"/>
                </a:solidFill>
                <a:latin typeface="Arial MT"/>
                <a:cs typeface="Arial MT"/>
              </a:rPr>
              <a:t>the</a:t>
            </a:r>
            <a:r>
              <a:rPr sz="850" spc="6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48485A"/>
                </a:solidFill>
                <a:latin typeface="Arial MT"/>
                <a:cs typeface="Arial MT"/>
              </a:rPr>
              <a:t>highest</a:t>
            </a:r>
            <a:r>
              <a:rPr sz="850" spc="3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48485A"/>
                </a:solidFill>
                <a:latin typeface="Arial MT"/>
                <a:cs typeface="Arial MT"/>
              </a:rPr>
              <a:t>percentage</a:t>
            </a:r>
            <a:r>
              <a:rPr sz="850" spc="8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48485A"/>
                </a:solidFill>
                <a:latin typeface="Arial MT"/>
                <a:cs typeface="Arial MT"/>
              </a:rPr>
              <a:t>of</a:t>
            </a:r>
            <a:r>
              <a:rPr sz="8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48485A"/>
                </a:solidFill>
                <a:latin typeface="Arial MT"/>
                <a:cs typeface="Arial MT"/>
              </a:rPr>
              <a:t>discounted</a:t>
            </a:r>
            <a:r>
              <a:rPr sz="850" spc="6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48485A"/>
                </a:solidFill>
                <a:latin typeface="Arial MT"/>
                <a:cs typeface="Arial MT"/>
              </a:rPr>
              <a:t>purchases: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566018" y="2240356"/>
            <a:ext cx="5708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48485A"/>
                </a:solidFill>
                <a:latin typeface="Cambria"/>
                <a:cs typeface="Cambria"/>
              </a:rPr>
              <a:t>50%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0488" y="1612772"/>
            <a:ext cx="1701165" cy="1701164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0708893" y="3437635"/>
            <a:ext cx="28638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100" dirty="0">
                <a:solidFill>
                  <a:srgbClr val="48485A"/>
                </a:solidFill>
                <a:latin typeface="Cambria"/>
                <a:cs typeface="Cambria"/>
              </a:rPr>
              <a:t>Hat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466958" y="4516373"/>
            <a:ext cx="7702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35" dirty="0">
                <a:solidFill>
                  <a:srgbClr val="48485A"/>
                </a:solidFill>
                <a:latin typeface="Cambria"/>
                <a:cs typeface="Cambria"/>
              </a:rPr>
              <a:t>49.7%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00488" y="3887978"/>
            <a:ext cx="1701165" cy="1701165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10516869" y="5713221"/>
            <a:ext cx="6680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80" dirty="0">
                <a:solidFill>
                  <a:srgbClr val="48485A"/>
                </a:solidFill>
                <a:latin typeface="Cambria"/>
                <a:cs typeface="Cambria"/>
              </a:rPr>
              <a:t>Sneakers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474579" y="6791959"/>
            <a:ext cx="7543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60" dirty="0">
                <a:solidFill>
                  <a:srgbClr val="48485A"/>
                </a:solidFill>
                <a:latin typeface="Cambria"/>
                <a:cs typeface="Cambria"/>
              </a:rPr>
              <a:t>49.1%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00488" y="6163144"/>
            <a:ext cx="1701165" cy="1701164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10670793" y="7988300"/>
            <a:ext cx="36068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105" dirty="0">
                <a:solidFill>
                  <a:srgbClr val="48485A"/>
                </a:solidFill>
                <a:latin typeface="Cambria"/>
                <a:cs typeface="Cambria"/>
              </a:rPr>
              <a:t>Coat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84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3800" spc="430" dirty="0"/>
              <a:t>Customer</a:t>
            </a:r>
            <a:r>
              <a:rPr sz="3800" spc="260" dirty="0"/>
              <a:t> </a:t>
            </a:r>
            <a:r>
              <a:rPr sz="3800" spc="380" dirty="0"/>
              <a:t>Segmentation</a:t>
            </a:r>
            <a:endParaRPr sz="3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4108" y="1535849"/>
            <a:ext cx="2188845" cy="112264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24427" y="2113914"/>
            <a:ext cx="14732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185" dirty="0">
                <a:latin typeface="Cambria"/>
                <a:cs typeface="Cambria"/>
              </a:rPr>
              <a:t>1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75579" y="1706117"/>
            <a:ext cx="1991995" cy="735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229" dirty="0">
                <a:solidFill>
                  <a:srgbClr val="48485A"/>
                </a:solidFill>
                <a:latin typeface="Cambria"/>
                <a:cs typeface="Cambria"/>
              </a:rPr>
              <a:t>New</a:t>
            </a:r>
            <a:r>
              <a:rPr sz="1900" spc="135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1900" spc="185" dirty="0">
                <a:solidFill>
                  <a:srgbClr val="48485A"/>
                </a:solidFill>
                <a:latin typeface="Cambria"/>
                <a:cs typeface="Cambria"/>
              </a:rPr>
              <a:t>Customers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83 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customers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09623" y="2673350"/>
            <a:ext cx="12090400" cy="1156970"/>
            <a:chOff x="1809623" y="2673350"/>
            <a:chExt cx="12090400" cy="1156970"/>
          </a:xfrm>
        </p:grpSpPr>
        <p:sp>
          <p:nvSpPr>
            <p:cNvPr id="7" name="object 7"/>
            <p:cNvSpPr/>
            <p:nvPr/>
          </p:nvSpPr>
          <p:spPr>
            <a:xfrm>
              <a:off x="5141594" y="2673350"/>
              <a:ext cx="8758555" cy="11430"/>
            </a:xfrm>
            <a:custGeom>
              <a:avLst/>
              <a:gdLst/>
              <a:ahLst/>
              <a:cxnLst/>
              <a:rect l="l" t="t" r="r" b="b"/>
              <a:pathLst>
                <a:path w="8758555" h="11430">
                  <a:moveTo>
                    <a:pt x="8755507" y="0"/>
                  </a:moveTo>
                  <a:lnTo>
                    <a:pt x="2539" y="0"/>
                  </a:lnTo>
                  <a:lnTo>
                    <a:pt x="0" y="2539"/>
                  </a:lnTo>
                  <a:lnTo>
                    <a:pt x="0" y="5714"/>
                  </a:lnTo>
                  <a:lnTo>
                    <a:pt x="0" y="8889"/>
                  </a:lnTo>
                  <a:lnTo>
                    <a:pt x="2539" y="11429"/>
                  </a:lnTo>
                  <a:lnTo>
                    <a:pt x="8755507" y="11429"/>
                  </a:lnTo>
                  <a:lnTo>
                    <a:pt x="8758174" y="8889"/>
                  </a:lnTo>
                  <a:lnTo>
                    <a:pt x="8758174" y="2539"/>
                  </a:lnTo>
                  <a:lnTo>
                    <a:pt x="8755507" y="0"/>
                  </a:lnTo>
                  <a:close/>
                </a:path>
              </a:pathLst>
            </a:custGeom>
            <a:solidFill>
              <a:srgbClr val="DFBA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9623" y="2707297"/>
              <a:ext cx="4377817" cy="112264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901566" y="3146298"/>
            <a:ext cx="19367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80" dirty="0">
                <a:latin typeface="Cambria"/>
                <a:cs typeface="Cambria"/>
              </a:rPr>
              <a:t>2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70065" y="2877692"/>
            <a:ext cx="2686685" cy="734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85" dirty="0">
                <a:solidFill>
                  <a:srgbClr val="48485A"/>
                </a:solidFill>
                <a:latin typeface="Cambria"/>
                <a:cs typeface="Cambria"/>
              </a:rPr>
              <a:t>Returning</a:t>
            </a:r>
            <a:r>
              <a:rPr sz="1900" spc="175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1900" spc="185" dirty="0">
                <a:solidFill>
                  <a:srgbClr val="48485A"/>
                </a:solidFill>
                <a:latin typeface="Cambria"/>
                <a:cs typeface="Cambria"/>
              </a:rPr>
              <a:t>Customers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701</a:t>
            </a:r>
            <a:r>
              <a:rPr sz="150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customers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15086" y="3844671"/>
            <a:ext cx="13185140" cy="1156970"/>
            <a:chOff x="715086" y="3844671"/>
            <a:chExt cx="13185140" cy="1156970"/>
          </a:xfrm>
        </p:grpSpPr>
        <p:sp>
          <p:nvSpPr>
            <p:cNvPr id="12" name="object 12"/>
            <p:cNvSpPr/>
            <p:nvPr/>
          </p:nvSpPr>
          <p:spPr>
            <a:xfrm>
              <a:off x="6236080" y="3844671"/>
              <a:ext cx="7663815" cy="11430"/>
            </a:xfrm>
            <a:custGeom>
              <a:avLst/>
              <a:gdLst/>
              <a:ahLst/>
              <a:cxnLst/>
              <a:rect l="l" t="t" r="r" b="b"/>
              <a:pathLst>
                <a:path w="7663815" h="11429">
                  <a:moveTo>
                    <a:pt x="7661021" y="0"/>
                  </a:moveTo>
                  <a:lnTo>
                    <a:pt x="2667" y="0"/>
                  </a:lnTo>
                  <a:lnTo>
                    <a:pt x="0" y="2539"/>
                  </a:lnTo>
                  <a:lnTo>
                    <a:pt x="0" y="5714"/>
                  </a:lnTo>
                  <a:lnTo>
                    <a:pt x="0" y="8889"/>
                  </a:lnTo>
                  <a:lnTo>
                    <a:pt x="2667" y="11429"/>
                  </a:lnTo>
                  <a:lnTo>
                    <a:pt x="7661021" y="11429"/>
                  </a:lnTo>
                  <a:lnTo>
                    <a:pt x="7663688" y="8889"/>
                  </a:lnTo>
                  <a:lnTo>
                    <a:pt x="7663688" y="2539"/>
                  </a:lnTo>
                  <a:lnTo>
                    <a:pt x="7661021" y="0"/>
                  </a:lnTo>
                  <a:close/>
                </a:path>
              </a:pathLst>
            </a:custGeom>
            <a:solidFill>
              <a:srgbClr val="947C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086" y="3878618"/>
              <a:ext cx="6566789" cy="112264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901185" y="4317872"/>
            <a:ext cx="19367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8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64679" y="4049395"/>
            <a:ext cx="2128520" cy="734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200" dirty="0">
                <a:solidFill>
                  <a:srgbClr val="48485A"/>
                </a:solidFill>
                <a:latin typeface="Cambria"/>
                <a:cs typeface="Cambria"/>
              </a:rPr>
              <a:t>Loyal</a:t>
            </a:r>
            <a:r>
              <a:rPr sz="1900" spc="150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1900" spc="185" dirty="0">
                <a:solidFill>
                  <a:srgbClr val="48485A"/>
                </a:solidFill>
                <a:latin typeface="Cambria"/>
                <a:cs typeface="Cambria"/>
              </a:rPr>
              <a:t>Customers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3,116</a:t>
            </a:r>
            <a:r>
              <a:rPr sz="1500" spc="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customers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9442" y="5256021"/>
            <a:ext cx="110769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Customer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classification</a:t>
            </a:r>
            <a:r>
              <a:rPr sz="150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based</a:t>
            </a:r>
            <a:r>
              <a:rPr sz="1500" spc="5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60" dirty="0">
                <a:solidFill>
                  <a:srgbClr val="48485A"/>
                </a:solidFill>
                <a:latin typeface="Arial MT"/>
                <a:cs typeface="Arial MT"/>
              </a:rPr>
              <a:t>on</a:t>
            </a:r>
            <a:r>
              <a:rPr sz="1500" spc="8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purchase</a:t>
            </a:r>
            <a:r>
              <a:rPr sz="1500" spc="7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history</a:t>
            </a:r>
            <a:r>
              <a:rPr sz="1500" spc="4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reveals</a:t>
            </a:r>
            <a:r>
              <a:rPr sz="1500" spc="7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a</a:t>
            </a:r>
            <a:r>
              <a:rPr sz="1500" spc="7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strong</a:t>
            </a:r>
            <a:r>
              <a:rPr sz="1500" spc="6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loyal</a:t>
            </a:r>
            <a:r>
              <a:rPr sz="1500" spc="5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customer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base</a:t>
            </a:r>
            <a:r>
              <a:rPr sz="1500" spc="7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representing</a:t>
            </a:r>
            <a:r>
              <a:rPr sz="1500" spc="13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403BCF"/>
                </a:solidFill>
                <a:latin typeface="Arial"/>
                <a:cs typeface="Arial"/>
              </a:rPr>
              <a:t>80%</a:t>
            </a:r>
            <a:r>
              <a:rPr sz="1500" b="1" spc="65" dirty="0">
                <a:solidFill>
                  <a:srgbClr val="403BC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403BCF"/>
                </a:solidFill>
                <a:latin typeface="Arial"/>
                <a:cs typeface="Arial"/>
              </a:rPr>
              <a:t>of</a:t>
            </a:r>
            <a:r>
              <a:rPr sz="1500" b="1" spc="50" dirty="0">
                <a:solidFill>
                  <a:srgbClr val="403BC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403BCF"/>
                </a:solidFill>
                <a:latin typeface="Arial"/>
                <a:cs typeface="Arial"/>
              </a:rPr>
              <a:t>total</a:t>
            </a:r>
            <a:r>
              <a:rPr sz="1500" b="1" spc="30" dirty="0">
                <a:solidFill>
                  <a:srgbClr val="403BC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403BCF"/>
                </a:solidFill>
                <a:latin typeface="Arial"/>
                <a:cs typeface="Arial"/>
              </a:rPr>
              <a:t>customers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9442" y="5922086"/>
            <a:ext cx="5056505" cy="813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65" dirty="0">
                <a:solidFill>
                  <a:srgbClr val="403BCF"/>
                </a:solidFill>
                <a:latin typeface="Cambria"/>
                <a:cs typeface="Cambria"/>
              </a:rPr>
              <a:t>Subscription</a:t>
            </a:r>
            <a:r>
              <a:rPr sz="1900" spc="195" dirty="0">
                <a:solidFill>
                  <a:srgbClr val="403BCF"/>
                </a:solidFill>
                <a:latin typeface="Cambria"/>
                <a:cs typeface="Cambria"/>
              </a:rPr>
              <a:t> </a:t>
            </a:r>
            <a:r>
              <a:rPr sz="1900" spc="140" dirty="0">
                <a:solidFill>
                  <a:srgbClr val="403BCF"/>
                </a:solidFill>
                <a:latin typeface="Cambria"/>
                <a:cs typeface="Cambria"/>
              </a:rPr>
              <a:t>Analysis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Subscribers:</a:t>
            </a:r>
            <a:r>
              <a:rPr sz="1500" spc="-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b="1" dirty="0">
                <a:solidFill>
                  <a:srgbClr val="48485A"/>
                </a:solidFill>
                <a:latin typeface="Arial"/>
                <a:cs typeface="Arial"/>
              </a:rPr>
              <a:t>1,053 </a:t>
            </a:r>
            <a:r>
              <a:rPr sz="1500" b="1" spc="-30" dirty="0">
                <a:solidFill>
                  <a:srgbClr val="48485A"/>
                </a:solidFill>
                <a:latin typeface="Arial"/>
                <a:cs typeface="Arial"/>
              </a:rPr>
              <a:t>customers</a:t>
            </a:r>
            <a:r>
              <a:rPr sz="1500" b="1" spc="5" dirty="0">
                <a:solidFill>
                  <a:srgbClr val="48485A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48485A"/>
                </a:solidFill>
                <a:latin typeface="Arial MT"/>
                <a:cs typeface="Arial MT"/>
              </a:rPr>
              <a:t>with</a:t>
            </a:r>
            <a:r>
              <a:rPr sz="1500" spc="-3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$59.49</a:t>
            </a:r>
            <a:r>
              <a:rPr sz="1500" spc="6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average</a:t>
            </a:r>
            <a:r>
              <a:rPr sz="1500" spc="3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spend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9442" y="6968438"/>
            <a:ext cx="54781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Non-subscribers:</a:t>
            </a:r>
            <a:r>
              <a:rPr sz="1500" spc="3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b="1" dirty="0">
                <a:solidFill>
                  <a:srgbClr val="48485A"/>
                </a:solidFill>
                <a:latin typeface="Arial"/>
                <a:cs typeface="Arial"/>
              </a:rPr>
              <a:t>2,847</a:t>
            </a:r>
            <a:r>
              <a:rPr sz="1500" b="1" spc="45" dirty="0">
                <a:solidFill>
                  <a:srgbClr val="48485A"/>
                </a:solidFill>
                <a:latin typeface="Arial"/>
                <a:cs typeface="Arial"/>
              </a:rPr>
              <a:t> </a:t>
            </a:r>
            <a:r>
              <a:rPr sz="1500" b="1" spc="-30" dirty="0">
                <a:solidFill>
                  <a:srgbClr val="48485A"/>
                </a:solidFill>
                <a:latin typeface="Arial"/>
                <a:cs typeface="Arial"/>
              </a:rPr>
              <a:t>customers</a:t>
            </a:r>
            <a:r>
              <a:rPr sz="1500" b="1" spc="55" dirty="0">
                <a:solidFill>
                  <a:srgbClr val="48485A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48485A"/>
                </a:solidFill>
                <a:latin typeface="Arial MT"/>
                <a:cs typeface="Arial MT"/>
              </a:rPr>
              <a:t>with</a:t>
            </a:r>
            <a:r>
              <a:rPr sz="1500" spc="1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$59.87</a:t>
            </a:r>
            <a:r>
              <a:rPr sz="1500" spc="114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average</a:t>
            </a:r>
            <a:r>
              <a:rPr sz="1500" spc="7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spend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48498" y="5922086"/>
            <a:ext cx="3348354" cy="813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75" dirty="0">
                <a:solidFill>
                  <a:srgbClr val="403BCF"/>
                </a:solidFill>
                <a:latin typeface="Cambria"/>
                <a:cs typeface="Cambria"/>
              </a:rPr>
              <a:t>Repeat</a:t>
            </a:r>
            <a:r>
              <a:rPr sz="1900" spc="110" dirty="0">
                <a:solidFill>
                  <a:srgbClr val="403BCF"/>
                </a:solidFill>
                <a:latin typeface="Cambria"/>
                <a:cs typeface="Cambria"/>
              </a:rPr>
              <a:t> </a:t>
            </a:r>
            <a:r>
              <a:rPr sz="1900" spc="204" dirty="0">
                <a:solidFill>
                  <a:srgbClr val="403BCF"/>
                </a:solidFill>
                <a:latin typeface="Cambria"/>
                <a:cs typeface="Cambria"/>
              </a:rPr>
              <a:t>Buyer</a:t>
            </a:r>
            <a:r>
              <a:rPr sz="1900" spc="150" dirty="0">
                <a:solidFill>
                  <a:srgbClr val="403BCF"/>
                </a:solidFill>
                <a:latin typeface="Cambria"/>
                <a:cs typeface="Cambria"/>
              </a:rPr>
              <a:t> </a:t>
            </a:r>
            <a:r>
              <a:rPr sz="1900" spc="170" dirty="0">
                <a:solidFill>
                  <a:srgbClr val="403BCF"/>
                </a:solidFill>
                <a:latin typeface="Cambria"/>
                <a:cs typeface="Cambria"/>
              </a:rPr>
              <a:t>Behavior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1500" spc="10" dirty="0">
                <a:solidFill>
                  <a:srgbClr val="48485A"/>
                </a:solidFill>
                <a:latin typeface="Arial MT"/>
                <a:cs typeface="Arial MT"/>
              </a:rPr>
              <a:t>Among</a:t>
            </a:r>
            <a:r>
              <a:rPr sz="1500" spc="7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48485A"/>
                </a:solidFill>
                <a:latin typeface="Arial MT"/>
                <a:cs typeface="Arial MT"/>
              </a:rPr>
              <a:t>customers</a:t>
            </a:r>
            <a:r>
              <a:rPr sz="1500" spc="3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75" dirty="0">
                <a:solidFill>
                  <a:srgbClr val="48485A"/>
                </a:solidFill>
                <a:latin typeface="Arial MT"/>
                <a:cs typeface="Arial MT"/>
              </a:rPr>
              <a:t>with</a:t>
            </a:r>
            <a:r>
              <a:rPr sz="1500" spc="5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10" dirty="0">
                <a:solidFill>
                  <a:srgbClr val="48485A"/>
                </a:solidFill>
                <a:latin typeface="Arial MT"/>
                <a:cs typeface="Arial MT"/>
              </a:rPr>
              <a:t>&gt;5</a:t>
            </a:r>
            <a:r>
              <a:rPr sz="150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purchases: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48498" y="6968438"/>
            <a:ext cx="2679700" cy="634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958</a:t>
            </a:r>
            <a:r>
              <a:rPr sz="1500" spc="5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are</a:t>
            </a:r>
            <a:r>
              <a:rPr sz="150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subscribers</a:t>
            </a:r>
            <a:endParaRPr sz="15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190"/>
              </a:spcBef>
              <a:buChar char="•"/>
              <a:tabLst>
                <a:tab pos="354965" algn="l"/>
              </a:tabLst>
            </a:pP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2,518</a:t>
            </a:r>
            <a:r>
              <a:rPr sz="1500" spc="14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are</a:t>
            </a:r>
            <a:r>
              <a:rPr sz="1500" spc="10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non-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subscribers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46"/>
            <a:ext cx="5486400" cy="82295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1792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00"/>
              </a:spcBef>
            </a:pPr>
            <a:r>
              <a:rPr spc="580" dirty="0"/>
              <a:t>Top</a:t>
            </a:r>
            <a:r>
              <a:rPr spc="235" dirty="0"/>
              <a:t> </a:t>
            </a:r>
            <a:r>
              <a:rPr spc="330" dirty="0"/>
              <a:t>Products</a:t>
            </a:r>
            <a:r>
              <a:rPr spc="240" dirty="0"/>
              <a:t> </a:t>
            </a:r>
            <a:r>
              <a:rPr spc="445" dirty="0"/>
              <a:t>by</a:t>
            </a:r>
            <a:r>
              <a:rPr spc="245" dirty="0"/>
              <a:t> </a:t>
            </a:r>
            <a:r>
              <a:rPr spc="390" dirty="0"/>
              <a:t>Category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76033" y="1437005"/>
            <a:ext cx="7792084" cy="1514475"/>
            <a:chOff x="676033" y="1437005"/>
            <a:chExt cx="7792084" cy="1514475"/>
          </a:xfrm>
        </p:grpSpPr>
        <p:sp>
          <p:nvSpPr>
            <p:cNvPr id="5" name="object 5"/>
            <p:cNvSpPr/>
            <p:nvPr/>
          </p:nvSpPr>
          <p:spPr>
            <a:xfrm>
              <a:off x="687463" y="1448435"/>
              <a:ext cx="7769225" cy="1491615"/>
            </a:xfrm>
            <a:custGeom>
              <a:avLst/>
              <a:gdLst/>
              <a:ahLst/>
              <a:cxnLst/>
              <a:rect l="l" t="t" r="r" b="b"/>
              <a:pathLst>
                <a:path w="7769225" h="1491614">
                  <a:moveTo>
                    <a:pt x="7739621" y="0"/>
                  </a:moveTo>
                  <a:lnTo>
                    <a:pt x="29464" y="0"/>
                  </a:lnTo>
                  <a:lnTo>
                    <a:pt x="17996" y="2317"/>
                  </a:lnTo>
                  <a:lnTo>
                    <a:pt x="8631" y="8635"/>
                  </a:lnTo>
                  <a:lnTo>
                    <a:pt x="2315" y="18002"/>
                  </a:lnTo>
                  <a:lnTo>
                    <a:pt x="0" y="29464"/>
                  </a:lnTo>
                  <a:lnTo>
                    <a:pt x="0" y="1462151"/>
                  </a:lnTo>
                  <a:lnTo>
                    <a:pt x="2315" y="1473612"/>
                  </a:lnTo>
                  <a:lnTo>
                    <a:pt x="8631" y="1482979"/>
                  </a:lnTo>
                  <a:lnTo>
                    <a:pt x="17996" y="1489297"/>
                  </a:lnTo>
                  <a:lnTo>
                    <a:pt x="29464" y="1491615"/>
                  </a:lnTo>
                  <a:lnTo>
                    <a:pt x="7739621" y="1491615"/>
                  </a:lnTo>
                  <a:lnTo>
                    <a:pt x="7751083" y="1489297"/>
                  </a:lnTo>
                  <a:lnTo>
                    <a:pt x="7760449" y="1482979"/>
                  </a:lnTo>
                  <a:lnTo>
                    <a:pt x="7766767" y="1473612"/>
                  </a:lnTo>
                  <a:lnTo>
                    <a:pt x="7769085" y="1462151"/>
                  </a:lnTo>
                  <a:lnTo>
                    <a:pt x="7769085" y="29464"/>
                  </a:lnTo>
                  <a:lnTo>
                    <a:pt x="7766767" y="18002"/>
                  </a:lnTo>
                  <a:lnTo>
                    <a:pt x="7760449" y="8636"/>
                  </a:lnTo>
                  <a:lnTo>
                    <a:pt x="7751083" y="2317"/>
                  </a:lnTo>
                  <a:lnTo>
                    <a:pt x="7739621" y="0"/>
                  </a:lnTo>
                  <a:close/>
                </a:path>
              </a:pathLst>
            </a:custGeom>
            <a:solidFill>
              <a:srgbClr val="FA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7463" y="1448435"/>
              <a:ext cx="7769225" cy="1491615"/>
            </a:xfrm>
            <a:custGeom>
              <a:avLst/>
              <a:gdLst/>
              <a:ahLst/>
              <a:cxnLst/>
              <a:rect l="l" t="t" r="r" b="b"/>
              <a:pathLst>
                <a:path w="7769225" h="1491614">
                  <a:moveTo>
                    <a:pt x="0" y="29464"/>
                  </a:moveTo>
                  <a:lnTo>
                    <a:pt x="2315" y="18002"/>
                  </a:lnTo>
                  <a:lnTo>
                    <a:pt x="8631" y="8635"/>
                  </a:lnTo>
                  <a:lnTo>
                    <a:pt x="17996" y="2317"/>
                  </a:lnTo>
                  <a:lnTo>
                    <a:pt x="29464" y="0"/>
                  </a:lnTo>
                  <a:lnTo>
                    <a:pt x="7739621" y="0"/>
                  </a:lnTo>
                  <a:lnTo>
                    <a:pt x="7751083" y="2317"/>
                  </a:lnTo>
                  <a:lnTo>
                    <a:pt x="7760449" y="8636"/>
                  </a:lnTo>
                  <a:lnTo>
                    <a:pt x="7766767" y="18002"/>
                  </a:lnTo>
                  <a:lnTo>
                    <a:pt x="7769085" y="29464"/>
                  </a:lnTo>
                  <a:lnTo>
                    <a:pt x="7769085" y="1462151"/>
                  </a:lnTo>
                  <a:lnTo>
                    <a:pt x="7766767" y="1473612"/>
                  </a:lnTo>
                  <a:lnTo>
                    <a:pt x="7760449" y="1482979"/>
                  </a:lnTo>
                  <a:lnTo>
                    <a:pt x="7751083" y="1489297"/>
                  </a:lnTo>
                  <a:lnTo>
                    <a:pt x="7739621" y="1491615"/>
                  </a:lnTo>
                  <a:lnTo>
                    <a:pt x="29464" y="1491615"/>
                  </a:lnTo>
                  <a:lnTo>
                    <a:pt x="17996" y="1489297"/>
                  </a:lnTo>
                  <a:lnTo>
                    <a:pt x="8631" y="1482979"/>
                  </a:lnTo>
                  <a:lnTo>
                    <a:pt x="2315" y="1473612"/>
                  </a:lnTo>
                  <a:lnTo>
                    <a:pt x="0" y="1462151"/>
                  </a:lnTo>
                  <a:lnTo>
                    <a:pt x="0" y="29464"/>
                  </a:lnTo>
                  <a:close/>
                </a:path>
              </a:pathLst>
            </a:custGeom>
            <a:ln w="22860">
              <a:solidFill>
                <a:srgbClr val="D0CE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0323" y="1471930"/>
            <a:ext cx="786130" cy="1445260"/>
          </a:xfrm>
          <a:prstGeom prst="rect">
            <a:avLst/>
          </a:prstGeom>
          <a:solidFill>
            <a:srgbClr val="EAE8F3"/>
          </a:solidFill>
        </p:spPr>
        <p:txBody>
          <a:bodyPr vert="horz" wrap="square" lIns="0" tIns="12953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19"/>
              </a:spcBef>
            </a:pPr>
            <a:endParaRPr sz="2300">
              <a:latin typeface="Times New Roman"/>
              <a:cs typeface="Times New Roman"/>
            </a:endParaRPr>
          </a:p>
          <a:p>
            <a:pPr marL="245110">
              <a:lnSpc>
                <a:spcPct val="100000"/>
              </a:lnSpc>
            </a:pPr>
            <a:r>
              <a:rPr sz="2300" spc="-305" dirty="0">
                <a:solidFill>
                  <a:srgbClr val="48485A"/>
                </a:solidFill>
                <a:latin typeface="Cambria"/>
                <a:cs typeface="Cambria"/>
              </a:rPr>
              <a:t>1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9829" y="1642998"/>
            <a:ext cx="6491605" cy="738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25" dirty="0">
                <a:solidFill>
                  <a:srgbClr val="48485A"/>
                </a:solidFill>
                <a:latin typeface="Cambria"/>
                <a:cs typeface="Cambria"/>
              </a:rPr>
              <a:t>Accessories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1500" b="1" spc="-80" dirty="0">
                <a:solidFill>
                  <a:srgbClr val="48485A"/>
                </a:solidFill>
                <a:latin typeface="Arial"/>
                <a:cs typeface="Arial"/>
              </a:rPr>
              <a:t>Jewelry</a:t>
            </a:r>
            <a:r>
              <a:rPr sz="1500" b="1" spc="-5" dirty="0">
                <a:solidFill>
                  <a:srgbClr val="48485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leads</a:t>
            </a:r>
            <a:r>
              <a:rPr sz="150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75" dirty="0">
                <a:solidFill>
                  <a:srgbClr val="48485A"/>
                </a:solidFill>
                <a:latin typeface="Arial MT"/>
                <a:cs typeface="Arial MT"/>
              </a:rPr>
              <a:t>with</a:t>
            </a:r>
            <a:r>
              <a:rPr sz="1500" spc="3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171</a:t>
            </a:r>
            <a:r>
              <a:rPr sz="1500" spc="7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orders,</a:t>
            </a:r>
            <a:r>
              <a:rPr sz="1500" spc="3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followed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 by</a:t>
            </a:r>
            <a:r>
              <a:rPr sz="1500" spc="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48485A"/>
                </a:solidFill>
                <a:latin typeface="Arial MT"/>
                <a:cs typeface="Arial MT"/>
              </a:rPr>
              <a:t>Sunglasses</a:t>
            </a:r>
            <a:r>
              <a:rPr sz="1500" spc="-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and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Belt</a:t>
            </a:r>
            <a:r>
              <a:rPr sz="150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(161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each)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6033" y="3124961"/>
            <a:ext cx="7792084" cy="1514475"/>
            <a:chOff x="676033" y="3124961"/>
            <a:chExt cx="7792084" cy="1514475"/>
          </a:xfrm>
        </p:grpSpPr>
        <p:sp>
          <p:nvSpPr>
            <p:cNvPr id="10" name="object 10"/>
            <p:cNvSpPr/>
            <p:nvPr/>
          </p:nvSpPr>
          <p:spPr>
            <a:xfrm>
              <a:off x="687463" y="3136391"/>
              <a:ext cx="7769225" cy="1491615"/>
            </a:xfrm>
            <a:custGeom>
              <a:avLst/>
              <a:gdLst/>
              <a:ahLst/>
              <a:cxnLst/>
              <a:rect l="l" t="t" r="r" b="b"/>
              <a:pathLst>
                <a:path w="7769225" h="1491614">
                  <a:moveTo>
                    <a:pt x="7739621" y="0"/>
                  </a:moveTo>
                  <a:lnTo>
                    <a:pt x="29464" y="0"/>
                  </a:lnTo>
                  <a:lnTo>
                    <a:pt x="17996" y="2299"/>
                  </a:lnTo>
                  <a:lnTo>
                    <a:pt x="8631" y="8588"/>
                  </a:lnTo>
                  <a:lnTo>
                    <a:pt x="2315" y="17948"/>
                  </a:lnTo>
                  <a:lnTo>
                    <a:pt x="0" y="29463"/>
                  </a:lnTo>
                  <a:lnTo>
                    <a:pt x="0" y="1462151"/>
                  </a:lnTo>
                  <a:lnTo>
                    <a:pt x="2315" y="1473612"/>
                  </a:lnTo>
                  <a:lnTo>
                    <a:pt x="8631" y="1482979"/>
                  </a:lnTo>
                  <a:lnTo>
                    <a:pt x="17996" y="1489297"/>
                  </a:lnTo>
                  <a:lnTo>
                    <a:pt x="29464" y="1491615"/>
                  </a:lnTo>
                  <a:lnTo>
                    <a:pt x="7739621" y="1491615"/>
                  </a:lnTo>
                  <a:lnTo>
                    <a:pt x="7751083" y="1489297"/>
                  </a:lnTo>
                  <a:lnTo>
                    <a:pt x="7760449" y="1482979"/>
                  </a:lnTo>
                  <a:lnTo>
                    <a:pt x="7766767" y="1473612"/>
                  </a:lnTo>
                  <a:lnTo>
                    <a:pt x="7769085" y="1462151"/>
                  </a:lnTo>
                  <a:lnTo>
                    <a:pt x="7769085" y="29463"/>
                  </a:lnTo>
                  <a:lnTo>
                    <a:pt x="7766767" y="17948"/>
                  </a:lnTo>
                  <a:lnTo>
                    <a:pt x="7760449" y="8588"/>
                  </a:lnTo>
                  <a:lnTo>
                    <a:pt x="7751083" y="2299"/>
                  </a:lnTo>
                  <a:lnTo>
                    <a:pt x="7739621" y="0"/>
                  </a:lnTo>
                  <a:close/>
                </a:path>
              </a:pathLst>
            </a:custGeom>
            <a:solidFill>
              <a:srgbClr val="FA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7463" y="3136391"/>
              <a:ext cx="7769225" cy="1491615"/>
            </a:xfrm>
            <a:custGeom>
              <a:avLst/>
              <a:gdLst/>
              <a:ahLst/>
              <a:cxnLst/>
              <a:rect l="l" t="t" r="r" b="b"/>
              <a:pathLst>
                <a:path w="7769225" h="1491614">
                  <a:moveTo>
                    <a:pt x="0" y="29463"/>
                  </a:moveTo>
                  <a:lnTo>
                    <a:pt x="2315" y="17948"/>
                  </a:lnTo>
                  <a:lnTo>
                    <a:pt x="8631" y="8588"/>
                  </a:lnTo>
                  <a:lnTo>
                    <a:pt x="17996" y="2299"/>
                  </a:lnTo>
                  <a:lnTo>
                    <a:pt x="29464" y="0"/>
                  </a:lnTo>
                  <a:lnTo>
                    <a:pt x="7739621" y="0"/>
                  </a:lnTo>
                  <a:lnTo>
                    <a:pt x="7751083" y="2299"/>
                  </a:lnTo>
                  <a:lnTo>
                    <a:pt x="7760449" y="8588"/>
                  </a:lnTo>
                  <a:lnTo>
                    <a:pt x="7766767" y="17948"/>
                  </a:lnTo>
                  <a:lnTo>
                    <a:pt x="7769085" y="29463"/>
                  </a:lnTo>
                  <a:lnTo>
                    <a:pt x="7769085" y="1462151"/>
                  </a:lnTo>
                  <a:lnTo>
                    <a:pt x="7766767" y="1473612"/>
                  </a:lnTo>
                  <a:lnTo>
                    <a:pt x="7760449" y="1482979"/>
                  </a:lnTo>
                  <a:lnTo>
                    <a:pt x="7751083" y="1489297"/>
                  </a:lnTo>
                  <a:lnTo>
                    <a:pt x="7739621" y="1491615"/>
                  </a:lnTo>
                  <a:lnTo>
                    <a:pt x="29464" y="1491615"/>
                  </a:lnTo>
                  <a:lnTo>
                    <a:pt x="17996" y="1489297"/>
                  </a:lnTo>
                  <a:lnTo>
                    <a:pt x="8631" y="1482979"/>
                  </a:lnTo>
                  <a:lnTo>
                    <a:pt x="2315" y="1473612"/>
                  </a:lnTo>
                  <a:lnTo>
                    <a:pt x="0" y="1462151"/>
                  </a:lnTo>
                  <a:lnTo>
                    <a:pt x="0" y="29463"/>
                  </a:lnTo>
                  <a:close/>
                </a:path>
              </a:pathLst>
            </a:custGeom>
            <a:ln w="22860">
              <a:solidFill>
                <a:srgbClr val="D0CE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10323" y="3159760"/>
            <a:ext cx="786130" cy="1445260"/>
          </a:xfrm>
          <a:prstGeom prst="rect">
            <a:avLst/>
          </a:prstGeom>
          <a:solidFill>
            <a:srgbClr val="EAE8F3"/>
          </a:solidFill>
        </p:spPr>
        <p:txBody>
          <a:bodyPr vert="horz" wrap="square" lIns="0" tIns="130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25"/>
              </a:spcBef>
            </a:pPr>
            <a:endParaRPr sz="2300">
              <a:latin typeface="Times New Roman"/>
              <a:cs typeface="Times New Roman"/>
            </a:endParaRPr>
          </a:p>
          <a:p>
            <a:pPr marL="245110">
              <a:lnSpc>
                <a:spcPct val="100000"/>
              </a:lnSpc>
            </a:pPr>
            <a:r>
              <a:rPr sz="2300" spc="90" dirty="0">
                <a:solidFill>
                  <a:srgbClr val="48485A"/>
                </a:solidFill>
                <a:latin typeface="Cambria"/>
                <a:cs typeface="Cambria"/>
              </a:rPr>
              <a:t>2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9829" y="3331210"/>
            <a:ext cx="6409055" cy="738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90" dirty="0">
                <a:solidFill>
                  <a:srgbClr val="48485A"/>
                </a:solidFill>
                <a:latin typeface="Cambria"/>
                <a:cs typeface="Cambria"/>
              </a:rPr>
              <a:t>Clothing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1500" b="1" spc="-50" dirty="0">
                <a:solidFill>
                  <a:srgbClr val="48485A"/>
                </a:solidFill>
                <a:latin typeface="Arial"/>
                <a:cs typeface="Arial"/>
              </a:rPr>
              <a:t>Blouse</a:t>
            </a:r>
            <a:r>
              <a:rPr sz="1500" b="1" spc="-40" dirty="0">
                <a:solidFill>
                  <a:srgbClr val="48485A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48485A"/>
                </a:solidFill>
                <a:latin typeface="Arial"/>
                <a:cs typeface="Arial"/>
              </a:rPr>
              <a:t>and</a:t>
            </a:r>
            <a:r>
              <a:rPr sz="1500" b="1" spc="-15" dirty="0">
                <a:solidFill>
                  <a:srgbClr val="48485A"/>
                </a:solidFill>
                <a:latin typeface="Arial"/>
                <a:cs typeface="Arial"/>
              </a:rPr>
              <a:t> </a:t>
            </a:r>
            <a:r>
              <a:rPr sz="1500" b="1" spc="-30" dirty="0">
                <a:solidFill>
                  <a:srgbClr val="48485A"/>
                </a:solidFill>
                <a:latin typeface="Arial"/>
                <a:cs typeface="Arial"/>
              </a:rPr>
              <a:t>Pants</a:t>
            </a:r>
            <a:r>
              <a:rPr sz="1500" b="1" spc="20" dirty="0">
                <a:solidFill>
                  <a:srgbClr val="48485A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tie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at</a:t>
            </a:r>
            <a:r>
              <a:rPr sz="1500" spc="-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171</a:t>
            </a:r>
            <a:r>
              <a:rPr sz="1500" spc="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orders,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75" dirty="0">
                <a:solidFill>
                  <a:srgbClr val="48485A"/>
                </a:solidFill>
                <a:latin typeface="Arial MT"/>
                <a:cs typeface="Arial MT"/>
              </a:rPr>
              <a:t>with</a:t>
            </a:r>
            <a:r>
              <a:rPr sz="1500" spc="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Shirt</a:t>
            </a:r>
            <a:r>
              <a:rPr sz="1500" spc="-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close</a:t>
            </a:r>
            <a:r>
              <a:rPr sz="1500" spc="-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55" dirty="0">
                <a:solidFill>
                  <a:srgbClr val="48485A"/>
                </a:solidFill>
                <a:latin typeface="Arial MT"/>
                <a:cs typeface="Arial MT"/>
              </a:rPr>
              <a:t>behind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at</a:t>
            </a:r>
            <a:r>
              <a:rPr sz="1500" spc="1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169</a:t>
            </a:r>
            <a:r>
              <a:rPr sz="1500" spc="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orders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76033" y="4812919"/>
            <a:ext cx="7792084" cy="1514475"/>
            <a:chOff x="676033" y="4812919"/>
            <a:chExt cx="7792084" cy="1514475"/>
          </a:xfrm>
        </p:grpSpPr>
        <p:sp>
          <p:nvSpPr>
            <p:cNvPr id="15" name="object 15"/>
            <p:cNvSpPr/>
            <p:nvPr/>
          </p:nvSpPr>
          <p:spPr>
            <a:xfrm>
              <a:off x="687463" y="4824349"/>
              <a:ext cx="7769225" cy="1491615"/>
            </a:xfrm>
            <a:custGeom>
              <a:avLst/>
              <a:gdLst/>
              <a:ahLst/>
              <a:cxnLst/>
              <a:rect l="l" t="t" r="r" b="b"/>
              <a:pathLst>
                <a:path w="7769225" h="1491614">
                  <a:moveTo>
                    <a:pt x="7739621" y="0"/>
                  </a:moveTo>
                  <a:lnTo>
                    <a:pt x="29464" y="0"/>
                  </a:lnTo>
                  <a:lnTo>
                    <a:pt x="17996" y="2299"/>
                  </a:lnTo>
                  <a:lnTo>
                    <a:pt x="8631" y="8588"/>
                  </a:lnTo>
                  <a:lnTo>
                    <a:pt x="2315" y="17948"/>
                  </a:lnTo>
                  <a:lnTo>
                    <a:pt x="0" y="29463"/>
                  </a:lnTo>
                  <a:lnTo>
                    <a:pt x="0" y="1462151"/>
                  </a:lnTo>
                  <a:lnTo>
                    <a:pt x="2315" y="1473612"/>
                  </a:lnTo>
                  <a:lnTo>
                    <a:pt x="8631" y="1482978"/>
                  </a:lnTo>
                  <a:lnTo>
                    <a:pt x="17996" y="1489297"/>
                  </a:lnTo>
                  <a:lnTo>
                    <a:pt x="29464" y="1491614"/>
                  </a:lnTo>
                  <a:lnTo>
                    <a:pt x="7739621" y="1491614"/>
                  </a:lnTo>
                  <a:lnTo>
                    <a:pt x="7751083" y="1489297"/>
                  </a:lnTo>
                  <a:lnTo>
                    <a:pt x="7760449" y="1482979"/>
                  </a:lnTo>
                  <a:lnTo>
                    <a:pt x="7766767" y="1473612"/>
                  </a:lnTo>
                  <a:lnTo>
                    <a:pt x="7769085" y="1462151"/>
                  </a:lnTo>
                  <a:lnTo>
                    <a:pt x="7769085" y="29463"/>
                  </a:lnTo>
                  <a:lnTo>
                    <a:pt x="7766767" y="17948"/>
                  </a:lnTo>
                  <a:lnTo>
                    <a:pt x="7760449" y="8588"/>
                  </a:lnTo>
                  <a:lnTo>
                    <a:pt x="7751083" y="2299"/>
                  </a:lnTo>
                  <a:lnTo>
                    <a:pt x="7739621" y="0"/>
                  </a:lnTo>
                  <a:close/>
                </a:path>
              </a:pathLst>
            </a:custGeom>
            <a:solidFill>
              <a:srgbClr val="FA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7463" y="4824349"/>
              <a:ext cx="7769225" cy="1491615"/>
            </a:xfrm>
            <a:custGeom>
              <a:avLst/>
              <a:gdLst/>
              <a:ahLst/>
              <a:cxnLst/>
              <a:rect l="l" t="t" r="r" b="b"/>
              <a:pathLst>
                <a:path w="7769225" h="1491614">
                  <a:moveTo>
                    <a:pt x="0" y="29463"/>
                  </a:moveTo>
                  <a:lnTo>
                    <a:pt x="2315" y="17948"/>
                  </a:lnTo>
                  <a:lnTo>
                    <a:pt x="8631" y="8588"/>
                  </a:lnTo>
                  <a:lnTo>
                    <a:pt x="17996" y="2299"/>
                  </a:lnTo>
                  <a:lnTo>
                    <a:pt x="29464" y="0"/>
                  </a:lnTo>
                  <a:lnTo>
                    <a:pt x="7739621" y="0"/>
                  </a:lnTo>
                  <a:lnTo>
                    <a:pt x="7751083" y="2299"/>
                  </a:lnTo>
                  <a:lnTo>
                    <a:pt x="7760449" y="8588"/>
                  </a:lnTo>
                  <a:lnTo>
                    <a:pt x="7766767" y="17948"/>
                  </a:lnTo>
                  <a:lnTo>
                    <a:pt x="7769085" y="29463"/>
                  </a:lnTo>
                  <a:lnTo>
                    <a:pt x="7769085" y="1462151"/>
                  </a:lnTo>
                  <a:lnTo>
                    <a:pt x="7766767" y="1473612"/>
                  </a:lnTo>
                  <a:lnTo>
                    <a:pt x="7760449" y="1482979"/>
                  </a:lnTo>
                  <a:lnTo>
                    <a:pt x="7751083" y="1489297"/>
                  </a:lnTo>
                  <a:lnTo>
                    <a:pt x="7739621" y="1491614"/>
                  </a:lnTo>
                  <a:lnTo>
                    <a:pt x="29464" y="1491614"/>
                  </a:lnTo>
                  <a:lnTo>
                    <a:pt x="17996" y="1489297"/>
                  </a:lnTo>
                  <a:lnTo>
                    <a:pt x="8631" y="1482978"/>
                  </a:lnTo>
                  <a:lnTo>
                    <a:pt x="2315" y="1473612"/>
                  </a:lnTo>
                  <a:lnTo>
                    <a:pt x="0" y="1462151"/>
                  </a:lnTo>
                  <a:lnTo>
                    <a:pt x="0" y="29463"/>
                  </a:lnTo>
                  <a:close/>
                </a:path>
              </a:pathLst>
            </a:custGeom>
            <a:ln w="22860">
              <a:solidFill>
                <a:srgbClr val="D0CE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10323" y="4847590"/>
            <a:ext cx="786130" cy="1445260"/>
          </a:xfrm>
          <a:prstGeom prst="rect">
            <a:avLst/>
          </a:prstGeom>
          <a:solidFill>
            <a:srgbClr val="EAE8F3"/>
          </a:solidFill>
        </p:spPr>
        <p:txBody>
          <a:bodyPr vert="horz" wrap="square" lIns="0" tIns="130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0"/>
              </a:spcBef>
            </a:pPr>
            <a:endParaRPr sz="2300">
              <a:latin typeface="Times New Roman"/>
              <a:cs typeface="Times New Roman"/>
            </a:endParaRPr>
          </a:p>
          <a:p>
            <a:pPr marL="245110">
              <a:lnSpc>
                <a:spcPct val="100000"/>
              </a:lnSpc>
            </a:pPr>
            <a:r>
              <a:rPr sz="2300" spc="90" dirty="0">
                <a:solidFill>
                  <a:srgbClr val="48485A"/>
                </a:solidFill>
                <a:latin typeface="Cambria"/>
                <a:cs typeface="Cambria"/>
              </a:rPr>
              <a:t>3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9829" y="5019547"/>
            <a:ext cx="6228715" cy="1057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45" dirty="0">
                <a:solidFill>
                  <a:srgbClr val="48485A"/>
                </a:solidFill>
                <a:latin typeface="Cambria"/>
                <a:cs typeface="Cambria"/>
              </a:rPr>
              <a:t>Footwear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1500" b="1" spc="-55" dirty="0">
                <a:solidFill>
                  <a:srgbClr val="48485A"/>
                </a:solidFill>
                <a:latin typeface="Arial"/>
                <a:cs typeface="Arial"/>
              </a:rPr>
              <a:t>Sandals</a:t>
            </a:r>
            <a:r>
              <a:rPr sz="1500" b="1" spc="-20" dirty="0">
                <a:solidFill>
                  <a:srgbClr val="48485A"/>
                </a:solidFill>
                <a:latin typeface="Arial"/>
                <a:cs typeface="Arial"/>
              </a:rPr>
              <a:t> </a:t>
            </a:r>
            <a:r>
              <a:rPr sz="1500" spc="80" dirty="0">
                <a:solidFill>
                  <a:srgbClr val="48485A"/>
                </a:solidFill>
                <a:latin typeface="Arial MT"/>
                <a:cs typeface="Arial MT"/>
              </a:rPr>
              <a:t>top</a:t>
            </a:r>
            <a:r>
              <a:rPr sz="1500" spc="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65" dirty="0">
                <a:solidFill>
                  <a:srgbClr val="48485A"/>
                </a:solidFill>
                <a:latin typeface="Arial MT"/>
                <a:cs typeface="Arial MT"/>
              </a:rPr>
              <a:t>the</a:t>
            </a:r>
            <a:r>
              <a:rPr sz="150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category</a:t>
            </a:r>
            <a:r>
              <a:rPr sz="1500" spc="2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75" dirty="0">
                <a:solidFill>
                  <a:srgbClr val="48485A"/>
                </a:solidFill>
                <a:latin typeface="Arial MT"/>
                <a:cs typeface="Arial MT"/>
              </a:rPr>
              <a:t>with</a:t>
            </a:r>
            <a:r>
              <a:rPr sz="1500" spc="1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160</a:t>
            </a:r>
            <a:r>
              <a:rPr sz="1500" spc="5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orders,</a:t>
            </a:r>
            <a:r>
              <a:rPr sz="1500" spc="2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followed</a:t>
            </a:r>
            <a:r>
              <a:rPr sz="1500" spc="-2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by</a:t>
            </a:r>
            <a:r>
              <a:rPr sz="150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Shoes</a:t>
            </a:r>
            <a:r>
              <a:rPr sz="1500" spc="1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(150)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48485A"/>
                </a:solidFill>
                <a:latin typeface="Arial MT"/>
                <a:cs typeface="Arial MT"/>
              </a:rPr>
              <a:t>and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Sneakers</a:t>
            </a:r>
            <a:r>
              <a:rPr sz="1500" spc="-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48485A"/>
                </a:solidFill>
                <a:latin typeface="Arial MT"/>
                <a:cs typeface="Arial MT"/>
              </a:rPr>
              <a:t>(145)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6033" y="6500876"/>
            <a:ext cx="7792084" cy="1201420"/>
            <a:chOff x="676033" y="6500876"/>
            <a:chExt cx="7792084" cy="1201420"/>
          </a:xfrm>
        </p:grpSpPr>
        <p:sp>
          <p:nvSpPr>
            <p:cNvPr id="20" name="object 20"/>
            <p:cNvSpPr/>
            <p:nvPr/>
          </p:nvSpPr>
          <p:spPr>
            <a:xfrm>
              <a:off x="687463" y="6512306"/>
              <a:ext cx="7769225" cy="1178560"/>
            </a:xfrm>
            <a:custGeom>
              <a:avLst/>
              <a:gdLst/>
              <a:ahLst/>
              <a:cxnLst/>
              <a:rect l="l" t="t" r="r" b="b"/>
              <a:pathLst>
                <a:path w="7769225" h="1178559">
                  <a:moveTo>
                    <a:pt x="7739621" y="0"/>
                  </a:moveTo>
                  <a:lnTo>
                    <a:pt x="29464" y="0"/>
                  </a:lnTo>
                  <a:lnTo>
                    <a:pt x="17996" y="2299"/>
                  </a:lnTo>
                  <a:lnTo>
                    <a:pt x="8631" y="8588"/>
                  </a:lnTo>
                  <a:lnTo>
                    <a:pt x="2315" y="17948"/>
                  </a:lnTo>
                  <a:lnTo>
                    <a:pt x="0" y="29464"/>
                  </a:lnTo>
                  <a:lnTo>
                    <a:pt x="0" y="1148956"/>
                  </a:lnTo>
                  <a:lnTo>
                    <a:pt x="2315" y="1160423"/>
                  </a:lnTo>
                  <a:lnTo>
                    <a:pt x="8631" y="1169789"/>
                  </a:lnTo>
                  <a:lnTo>
                    <a:pt x="17996" y="1176104"/>
                  </a:lnTo>
                  <a:lnTo>
                    <a:pt x="29464" y="1178420"/>
                  </a:lnTo>
                  <a:lnTo>
                    <a:pt x="7739621" y="1178420"/>
                  </a:lnTo>
                  <a:lnTo>
                    <a:pt x="7751083" y="1176104"/>
                  </a:lnTo>
                  <a:lnTo>
                    <a:pt x="7760449" y="1169789"/>
                  </a:lnTo>
                  <a:lnTo>
                    <a:pt x="7766767" y="1160423"/>
                  </a:lnTo>
                  <a:lnTo>
                    <a:pt x="7769085" y="1148956"/>
                  </a:lnTo>
                  <a:lnTo>
                    <a:pt x="7769085" y="29464"/>
                  </a:lnTo>
                  <a:lnTo>
                    <a:pt x="7766767" y="17948"/>
                  </a:lnTo>
                  <a:lnTo>
                    <a:pt x="7760449" y="8588"/>
                  </a:lnTo>
                  <a:lnTo>
                    <a:pt x="7751083" y="2299"/>
                  </a:lnTo>
                  <a:lnTo>
                    <a:pt x="7739621" y="0"/>
                  </a:lnTo>
                  <a:close/>
                </a:path>
              </a:pathLst>
            </a:custGeom>
            <a:solidFill>
              <a:srgbClr val="FA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7463" y="6512306"/>
              <a:ext cx="7769225" cy="1178560"/>
            </a:xfrm>
            <a:custGeom>
              <a:avLst/>
              <a:gdLst/>
              <a:ahLst/>
              <a:cxnLst/>
              <a:rect l="l" t="t" r="r" b="b"/>
              <a:pathLst>
                <a:path w="7769225" h="1178559">
                  <a:moveTo>
                    <a:pt x="0" y="29464"/>
                  </a:moveTo>
                  <a:lnTo>
                    <a:pt x="2315" y="17948"/>
                  </a:lnTo>
                  <a:lnTo>
                    <a:pt x="8631" y="8588"/>
                  </a:lnTo>
                  <a:lnTo>
                    <a:pt x="17996" y="2299"/>
                  </a:lnTo>
                  <a:lnTo>
                    <a:pt x="29464" y="0"/>
                  </a:lnTo>
                  <a:lnTo>
                    <a:pt x="7739621" y="0"/>
                  </a:lnTo>
                  <a:lnTo>
                    <a:pt x="7751083" y="2299"/>
                  </a:lnTo>
                  <a:lnTo>
                    <a:pt x="7760449" y="8588"/>
                  </a:lnTo>
                  <a:lnTo>
                    <a:pt x="7766767" y="17948"/>
                  </a:lnTo>
                  <a:lnTo>
                    <a:pt x="7769085" y="29464"/>
                  </a:lnTo>
                  <a:lnTo>
                    <a:pt x="7769085" y="1148956"/>
                  </a:lnTo>
                  <a:lnTo>
                    <a:pt x="7766767" y="1160423"/>
                  </a:lnTo>
                  <a:lnTo>
                    <a:pt x="7760449" y="1169789"/>
                  </a:lnTo>
                  <a:lnTo>
                    <a:pt x="7751083" y="1176104"/>
                  </a:lnTo>
                  <a:lnTo>
                    <a:pt x="7739621" y="1178420"/>
                  </a:lnTo>
                  <a:lnTo>
                    <a:pt x="29464" y="1178420"/>
                  </a:lnTo>
                  <a:lnTo>
                    <a:pt x="17996" y="1176104"/>
                  </a:lnTo>
                  <a:lnTo>
                    <a:pt x="8631" y="1169789"/>
                  </a:lnTo>
                  <a:lnTo>
                    <a:pt x="2315" y="1160423"/>
                  </a:lnTo>
                  <a:lnTo>
                    <a:pt x="0" y="1148956"/>
                  </a:lnTo>
                  <a:lnTo>
                    <a:pt x="0" y="29464"/>
                  </a:lnTo>
                  <a:close/>
                </a:path>
              </a:pathLst>
            </a:custGeom>
            <a:ln w="22859">
              <a:solidFill>
                <a:srgbClr val="D0CE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0323" y="6535419"/>
            <a:ext cx="786130" cy="1132840"/>
          </a:xfrm>
          <a:prstGeom prst="rect">
            <a:avLst/>
          </a:prstGeom>
          <a:solidFill>
            <a:srgbClr val="EAE8F3"/>
          </a:solidFill>
        </p:spPr>
        <p:txBody>
          <a:bodyPr vert="horz" wrap="square" lIns="0" tIns="310515" rIns="0" bIns="0" rtlCol="0">
            <a:spAutoFit/>
          </a:bodyPr>
          <a:lstStyle/>
          <a:p>
            <a:pPr marL="245110">
              <a:lnSpc>
                <a:spcPct val="100000"/>
              </a:lnSpc>
              <a:spcBef>
                <a:spcPts val="2445"/>
              </a:spcBef>
            </a:pPr>
            <a:r>
              <a:rPr sz="2300" spc="10" dirty="0">
                <a:solidFill>
                  <a:srgbClr val="48485A"/>
                </a:solidFill>
                <a:latin typeface="Cambria"/>
                <a:cs typeface="Cambria"/>
              </a:rPr>
              <a:t>4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79829" y="6707835"/>
            <a:ext cx="5951855" cy="738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70" dirty="0">
                <a:solidFill>
                  <a:srgbClr val="48485A"/>
                </a:solidFill>
                <a:latin typeface="Cambria"/>
                <a:cs typeface="Cambria"/>
              </a:rPr>
              <a:t>Outerwear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1500" b="1" spc="-95" dirty="0">
                <a:solidFill>
                  <a:srgbClr val="48485A"/>
                </a:solidFill>
                <a:latin typeface="Arial"/>
                <a:cs typeface="Arial"/>
              </a:rPr>
              <a:t>Jacket</a:t>
            </a:r>
            <a:r>
              <a:rPr sz="1500" b="1" spc="-15" dirty="0">
                <a:solidFill>
                  <a:srgbClr val="48485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leads</a:t>
            </a:r>
            <a:r>
              <a:rPr sz="150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75" dirty="0">
                <a:solidFill>
                  <a:srgbClr val="48485A"/>
                </a:solidFill>
                <a:latin typeface="Arial MT"/>
                <a:cs typeface="Arial MT"/>
              </a:rPr>
              <a:t>with</a:t>
            </a:r>
            <a:r>
              <a:rPr sz="1500" spc="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163</a:t>
            </a:r>
            <a:r>
              <a:rPr sz="1500" spc="5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orders,</a:t>
            </a:r>
            <a:r>
              <a:rPr sz="1500" spc="1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followed</a:t>
            </a:r>
            <a:r>
              <a:rPr sz="1500" spc="-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closely</a:t>
            </a:r>
            <a:r>
              <a:rPr sz="1500" spc="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by</a:t>
            </a:r>
            <a:r>
              <a:rPr sz="1500" spc="-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Coat</a:t>
            </a:r>
            <a:r>
              <a:rPr sz="1500" spc="3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at</a:t>
            </a:r>
            <a:r>
              <a:rPr sz="150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48485A"/>
                </a:solidFill>
                <a:latin typeface="Arial MT"/>
                <a:cs typeface="Arial MT"/>
              </a:rPr>
              <a:t>161</a:t>
            </a:r>
            <a:r>
              <a:rPr sz="1500" spc="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48485A"/>
                </a:solidFill>
                <a:latin typeface="Arial MT"/>
                <a:cs typeface="Arial MT"/>
              </a:rPr>
              <a:t>orders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8352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3644594"/>
            <a:ext cx="9300210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50" spc="335" dirty="0"/>
              <a:t>Interactive</a:t>
            </a:r>
            <a:r>
              <a:rPr sz="4450" spc="285" dirty="0"/>
              <a:t> </a:t>
            </a:r>
            <a:r>
              <a:rPr sz="4450" spc="395" dirty="0"/>
              <a:t>Power</a:t>
            </a:r>
            <a:r>
              <a:rPr sz="4450" spc="310" dirty="0"/>
              <a:t> </a:t>
            </a:r>
            <a:r>
              <a:rPr sz="4450" spc="540" dirty="0"/>
              <a:t>BI</a:t>
            </a:r>
            <a:r>
              <a:rPr sz="4450" spc="295" dirty="0"/>
              <a:t> </a:t>
            </a:r>
            <a:r>
              <a:rPr sz="4450" spc="450" dirty="0"/>
              <a:t>Dashboard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781304" y="4779391"/>
            <a:ext cx="1297622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20" dirty="0">
                <a:solidFill>
                  <a:srgbClr val="48485A"/>
                </a:solidFill>
                <a:latin typeface="Arial MT"/>
                <a:cs typeface="Arial MT"/>
              </a:rPr>
              <a:t>We</a:t>
            </a:r>
            <a:r>
              <a:rPr sz="175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80" dirty="0">
                <a:solidFill>
                  <a:srgbClr val="48485A"/>
                </a:solidFill>
                <a:latin typeface="Arial MT"/>
                <a:cs typeface="Arial MT"/>
              </a:rPr>
              <a:t>built</a:t>
            </a:r>
            <a:r>
              <a:rPr sz="1750" spc="20" dirty="0">
                <a:solidFill>
                  <a:srgbClr val="48485A"/>
                </a:solidFill>
                <a:latin typeface="Arial MT"/>
                <a:cs typeface="Arial MT"/>
              </a:rPr>
              <a:t> a</a:t>
            </a:r>
            <a:r>
              <a:rPr sz="1750" spc="3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20" dirty="0">
                <a:solidFill>
                  <a:srgbClr val="48485A"/>
                </a:solidFill>
                <a:latin typeface="Arial MT"/>
                <a:cs typeface="Arial MT"/>
              </a:rPr>
              <a:t>comprehensive</a:t>
            </a: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20" dirty="0">
                <a:solidFill>
                  <a:srgbClr val="48485A"/>
                </a:solidFill>
                <a:latin typeface="Arial MT"/>
                <a:cs typeface="Arial MT"/>
              </a:rPr>
              <a:t>interactive</a:t>
            </a:r>
            <a:r>
              <a:rPr sz="1750" spc="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50" dirty="0">
                <a:solidFill>
                  <a:srgbClr val="48485A"/>
                </a:solidFill>
                <a:latin typeface="Arial MT"/>
                <a:cs typeface="Arial MT"/>
              </a:rPr>
              <a:t>dashboard</a:t>
            </a:r>
            <a:r>
              <a:rPr sz="175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70" dirty="0">
                <a:solidFill>
                  <a:srgbClr val="48485A"/>
                </a:solidFill>
                <a:latin typeface="Arial MT"/>
                <a:cs typeface="Arial MT"/>
              </a:rPr>
              <a:t>in</a:t>
            </a:r>
            <a:r>
              <a:rPr sz="175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20" dirty="0">
                <a:solidFill>
                  <a:srgbClr val="48485A"/>
                </a:solidFill>
                <a:latin typeface="Arial MT"/>
                <a:cs typeface="Arial MT"/>
              </a:rPr>
              <a:t>Power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BI</a:t>
            </a:r>
            <a:r>
              <a:rPr sz="1750" spc="2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100" dirty="0">
                <a:solidFill>
                  <a:srgbClr val="48485A"/>
                </a:solidFill>
                <a:latin typeface="Arial MT"/>
                <a:cs typeface="Arial MT"/>
              </a:rPr>
              <a:t>to</a:t>
            </a:r>
            <a:r>
              <a:rPr sz="1750" spc="20" dirty="0">
                <a:solidFill>
                  <a:srgbClr val="48485A"/>
                </a:solidFill>
                <a:latin typeface="Arial MT"/>
                <a:cs typeface="Arial MT"/>
              </a:rPr>
              <a:t> visualize</a:t>
            </a:r>
            <a:r>
              <a:rPr sz="1750" spc="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20" dirty="0">
                <a:solidFill>
                  <a:srgbClr val="48485A"/>
                </a:solidFill>
                <a:latin typeface="Arial MT"/>
                <a:cs typeface="Arial MT"/>
              </a:rPr>
              <a:t>key insights</a:t>
            </a:r>
            <a:r>
              <a:rPr sz="1750" spc="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48485A"/>
                </a:solidFill>
                <a:latin typeface="Arial MT"/>
                <a:cs typeface="Arial MT"/>
              </a:rPr>
              <a:t>and</a:t>
            </a:r>
            <a:r>
              <a:rPr sz="1750" spc="3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20" dirty="0">
                <a:solidFill>
                  <a:srgbClr val="48485A"/>
                </a:solidFill>
                <a:latin typeface="Arial MT"/>
                <a:cs typeface="Arial MT"/>
              </a:rPr>
              <a:t>enable</a:t>
            </a:r>
            <a:r>
              <a:rPr sz="1750" spc="3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20" dirty="0">
                <a:solidFill>
                  <a:srgbClr val="48485A"/>
                </a:solidFill>
                <a:latin typeface="Arial MT"/>
                <a:cs typeface="Arial MT"/>
              </a:rPr>
              <a:t>data-</a:t>
            </a:r>
            <a:r>
              <a:rPr sz="1750" spc="55" dirty="0">
                <a:solidFill>
                  <a:srgbClr val="48485A"/>
                </a:solidFill>
                <a:latin typeface="Arial MT"/>
                <a:cs typeface="Arial MT"/>
              </a:rPr>
              <a:t>driven</a:t>
            </a:r>
            <a:r>
              <a:rPr sz="1750" spc="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20" dirty="0">
                <a:solidFill>
                  <a:srgbClr val="48485A"/>
                </a:solidFill>
                <a:latin typeface="Arial MT"/>
                <a:cs typeface="Arial MT"/>
              </a:rPr>
              <a:t>decision</a:t>
            </a:r>
            <a:r>
              <a:rPr sz="1750" spc="-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8485A"/>
                </a:solidFill>
                <a:latin typeface="Arial MT"/>
                <a:cs typeface="Arial MT"/>
              </a:rPr>
              <a:t>making.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05856" y="5763407"/>
            <a:ext cx="432434" cy="365125"/>
            <a:chOff x="805856" y="5763407"/>
            <a:chExt cx="432434" cy="3651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5856" y="5763407"/>
              <a:ext cx="432071" cy="30694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12832" y="6118579"/>
              <a:ext cx="414020" cy="635"/>
            </a:xfrm>
            <a:custGeom>
              <a:avLst/>
              <a:gdLst/>
              <a:ahLst/>
              <a:cxnLst/>
              <a:rect l="l" t="t" r="r" b="b"/>
              <a:pathLst>
                <a:path w="414019" h="635">
                  <a:moveTo>
                    <a:pt x="0" y="0"/>
                  </a:moveTo>
                  <a:lnTo>
                    <a:pt x="413517" y="77"/>
                  </a:lnTo>
                </a:path>
              </a:pathLst>
            </a:custGeom>
            <a:ln w="18730">
              <a:solidFill>
                <a:srgbClr val="403B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18285" y="5773039"/>
            <a:ext cx="3008630" cy="1586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10" dirty="0">
                <a:solidFill>
                  <a:srgbClr val="48485A"/>
                </a:solidFill>
                <a:latin typeface="Cambria"/>
                <a:cs typeface="Cambria"/>
              </a:rPr>
              <a:t>Real-</a:t>
            </a:r>
            <a:r>
              <a:rPr sz="2200" spc="320" dirty="0">
                <a:solidFill>
                  <a:srgbClr val="48485A"/>
                </a:solidFill>
                <a:latin typeface="Cambria"/>
                <a:cs typeface="Cambria"/>
              </a:rPr>
              <a:t>Time</a:t>
            </a:r>
            <a:r>
              <a:rPr sz="2200" spc="204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2200" spc="145" dirty="0">
                <a:solidFill>
                  <a:srgbClr val="48485A"/>
                </a:solidFill>
                <a:latin typeface="Cambria"/>
                <a:cs typeface="Cambria"/>
              </a:rPr>
              <a:t>Insights</a:t>
            </a:r>
            <a:endParaRPr sz="2200">
              <a:latin typeface="Cambria"/>
              <a:cs typeface="Cambri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Dynamic</a:t>
            </a:r>
            <a:r>
              <a:rPr sz="1750" spc="229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visualizations</a:t>
            </a:r>
            <a:r>
              <a:rPr sz="1750" spc="20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48485A"/>
                </a:solidFill>
                <a:latin typeface="Arial MT"/>
                <a:cs typeface="Arial MT"/>
              </a:rPr>
              <a:t>of </a:t>
            </a:r>
            <a:r>
              <a:rPr sz="1750" spc="60" dirty="0">
                <a:solidFill>
                  <a:srgbClr val="48485A"/>
                </a:solidFill>
                <a:latin typeface="Arial MT"/>
                <a:cs typeface="Arial MT"/>
              </a:rPr>
              <a:t>customer</a:t>
            </a:r>
            <a:r>
              <a:rPr sz="1750" spc="-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50" dirty="0">
                <a:solidFill>
                  <a:srgbClr val="48485A"/>
                </a:solidFill>
                <a:latin typeface="Arial MT"/>
                <a:cs typeface="Arial MT"/>
              </a:rPr>
              <a:t>behavior</a:t>
            </a:r>
            <a:r>
              <a:rPr sz="1750" spc="-3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48485A"/>
                </a:solidFill>
                <a:latin typeface="Arial MT"/>
                <a:cs typeface="Arial MT"/>
              </a:rPr>
              <a:t>and</a:t>
            </a:r>
            <a:r>
              <a:rPr sz="1750" spc="-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8485A"/>
                </a:solidFill>
                <a:latin typeface="Arial MT"/>
                <a:cs typeface="Arial MT"/>
              </a:rPr>
              <a:t>sales </a:t>
            </a:r>
            <a:r>
              <a:rPr sz="1750" spc="55" dirty="0">
                <a:solidFill>
                  <a:srgbClr val="48485A"/>
                </a:solidFill>
                <a:latin typeface="Arial MT"/>
                <a:cs typeface="Arial MT"/>
              </a:rPr>
              <a:t>trends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91111" y="5737835"/>
            <a:ext cx="343535" cy="416559"/>
          </a:xfrm>
          <a:custGeom>
            <a:avLst/>
            <a:gdLst/>
            <a:ahLst/>
            <a:cxnLst/>
            <a:rect l="l" t="t" r="r" b="b"/>
            <a:pathLst>
              <a:path w="343535" h="416560">
                <a:moveTo>
                  <a:pt x="290825" y="277459"/>
                </a:moveTo>
                <a:lnTo>
                  <a:pt x="291836" y="273666"/>
                </a:lnTo>
                <a:lnTo>
                  <a:pt x="294784" y="268231"/>
                </a:lnTo>
                <a:lnTo>
                  <a:pt x="301315" y="258856"/>
                </a:lnTo>
                <a:lnTo>
                  <a:pt x="313079" y="243240"/>
                </a:lnTo>
                <a:lnTo>
                  <a:pt x="317858" y="236136"/>
                </a:lnTo>
                <a:lnTo>
                  <a:pt x="322688" y="228149"/>
                </a:lnTo>
                <a:lnTo>
                  <a:pt x="327479" y="219324"/>
                </a:lnTo>
                <a:lnTo>
                  <a:pt x="332138" y="209704"/>
                </a:lnTo>
              </a:path>
              <a:path w="343535" h="416560">
                <a:moveTo>
                  <a:pt x="35183" y="248765"/>
                </a:moveTo>
                <a:lnTo>
                  <a:pt x="2821" y="244273"/>
                </a:lnTo>
                <a:lnTo>
                  <a:pt x="0" y="240268"/>
                </a:lnTo>
              </a:path>
              <a:path w="343535" h="416560">
                <a:moveTo>
                  <a:pt x="280820" y="172870"/>
                </a:moveTo>
                <a:lnTo>
                  <a:pt x="250881" y="143058"/>
                </a:lnTo>
                <a:lnTo>
                  <a:pt x="215805" y="124903"/>
                </a:lnTo>
                <a:lnTo>
                  <a:pt x="191501" y="120799"/>
                </a:lnTo>
                <a:lnTo>
                  <a:pt x="186356" y="120994"/>
                </a:lnTo>
                <a:lnTo>
                  <a:pt x="145276" y="133610"/>
                </a:lnTo>
                <a:lnTo>
                  <a:pt x="112173" y="159395"/>
                </a:lnTo>
                <a:lnTo>
                  <a:pt x="99870" y="172682"/>
                </a:lnTo>
              </a:path>
              <a:path w="343535" h="416560">
                <a:moveTo>
                  <a:pt x="280820" y="172870"/>
                </a:moveTo>
                <a:lnTo>
                  <a:pt x="248598" y="202619"/>
                </a:lnTo>
                <a:lnTo>
                  <a:pt x="206857" y="221470"/>
                </a:lnTo>
                <a:lnTo>
                  <a:pt x="190896" y="223710"/>
                </a:lnTo>
                <a:lnTo>
                  <a:pt x="185718" y="223566"/>
                </a:lnTo>
                <a:lnTo>
                  <a:pt x="143915" y="209943"/>
                </a:lnTo>
                <a:lnTo>
                  <a:pt x="110941" y="184804"/>
                </a:lnTo>
                <a:lnTo>
                  <a:pt x="99870" y="172682"/>
                </a:lnTo>
              </a:path>
              <a:path w="343535" h="416560">
                <a:moveTo>
                  <a:pt x="38878" y="138496"/>
                </a:moveTo>
                <a:lnTo>
                  <a:pt x="37764" y="150777"/>
                </a:lnTo>
                <a:lnTo>
                  <a:pt x="37071" y="154778"/>
                </a:lnTo>
                <a:lnTo>
                  <a:pt x="35422" y="159694"/>
                </a:lnTo>
                <a:lnTo>
                  <a:pt x="32561" y="165797"/>
                </a:lnTo>
              </a:path>
              <a:path w="343535" h="416560">
                <a:moveTo>
                  <a:pt x="1984" y="232321"/>
                </a:moveTo>
                <a:lnTo>
                  <a:pt x="1172" y="234526"/>
                </a:lnTo>
                <a:lnTo>
                  <a:pt x="508" y="237178"/>
                </a:lnTo>
                <a:lnTo>
                  <a:pt x="0" y="240268"/>
                </a:lnTo>
              </a:path>
              <a:path w="343535" h="416560">
                <a:moveTo>
                  <a:pt x="75525" y="344547"/>
                </a:moveTo>
                <a:lnTo>
                  <a:pt x="41891" y="320366"/>
                </a:lnTo>
                <a:lnTo>
                  <a:pt x="40862" y="315252"/>
                </a:lnTo>
                <a:lnTo>
                  <a:pt x="39833" y="302625"/>
                </a:lnTo>
              </a:path>
              <a:path w="343535" h="416560">
                <a:moveTo>
                  <a:pt x="290781" y="415974"/>
                </a:moveTo>
                <a:lnTo>
                  <a:pt x="124273" y="416034"/>
                </a:lnTo>
              </a:path>
              <a:path w="343535" h="416560">
                <a:moveTo>
                  <a:pt x="124273" y="416034"/>
                </a:moveTo>
                <a:lnTo>
                  <a:pt x="124236" y="344529"/>
                </a:lnTo>
              </a:path>
              <a:path w="343535" h="416560">
                <a:moveTo>
                  <a:pt x="124236" y="344529"/>
                </a:moveTo>
                <a:lnTo>
                  <a:pt x="75525" y="344547"/>
                </a:lnTo>
              </a:path>
              <a:path w="343535" h="416560">
                <a:moveTo>
                  <a:pt x="290781" y="415974"/>
                </a:moveTo>
                <a:lnTo>
                  <a:pt x="290825" y="277459"/>
                </a:lnTo>
              </a:path>
              <a:path w="343535" h="416560">
                <a:moveTo>
                  <a:pt x="189520" y="64770"/>
                </a:moveTo>
                <a:lnTo>
                  <a:pt x="189579" y="91514"/>
                </a:lnTo>
              </a:path>
              <a:path w="343535" h="416560">
                <a:moveTo>
                  <a:pt x="123063" y="92749"/>
                </a:moveTo>
                <a:lnTo>
                  <a:pt x="135820" y="105354"/>
                </a:lnTo>
              </a:path>
              <a:path w="343535" h="416560">
                <a:moveTo>
                  <a:pt x="246297" y="106269"/>
                </a:moveTo>
                <a:lnTo>
                  <a:pt x="259470" y="93465"/>
                </a:lnTo>
              </a:path>
              <a:path w="343535" h="416560">
                <a:moveTo>
                  <a:pt x="32561" y="165797"/>
                </a:moveTo>
                <a:lnTo>
                  <a:pt x="1984" y="232321"/>
                </a:lnTo>
              </a:path>
              <a:path w="343535" h="416560">
                <a:moveTo>
                  <a:pt x="220352" y="172284"/>
                </a:moveTo>
                <a:lnTo>
                  <a:pt x="217988" y="183990"/>
                </a:lnTo>
                <a:lnTo>
                  <a:pt x="211543" y="193549"/>
                </a:lnTo>
                <a:lnTo>
                  <a:pt x="201983" y="199994"/>
                </a:lnTo>
                <a:lnTo>
                  <a:pt x="190277" y="202358"/>
                </a:lnTo>
                <a:lnTo>
                  <a:pt x="178570" y="199994"/>
                </a:lnTo>
                <a:lnTo>
                  <a:pt x="169010" y="193549"/>
                </a:lnTo>
                <a:lnTo>
                  <a:pt x="162565" y="183990"/>
                </a:lnTo>
                <a:lnTo>
                  <a:pt x="160201" y="172284"/>
                </a:lnTo>
                <a:lnTo>
                  <a:pt x="162565" y="160577"/>
                </a:lnTo>
                <a:lnTo>
                  <a:pt x="169010" y="151018"/>
                </a:lnTo>
                <a:lnTo>
                  <a:pt x="178570" y="144573"/>
                </a:lnTo>
                <a:lnTo>
                  <a:pt x="190276" y="142210"/>
                </a:lnTo>
                <a:lnTo>
                  <a:pt x="201983" y="144573"/>
                </a:lnTo>
                <a:lnTo>
                  <a:pt x="211543" y="151018"/>
                </a:lnTo>
                <a:lnTo>
                  <a:pt x="217988" y="160577"/>
                </a:lnTo>
                <a:lnTo>
                  <a:pt x="220352" y="172284"/>
                </a:lnTo>
                <a:close/>
              </a:path>
              <a:path w="343535" h="416560">
                <a:moveTo>
                  <a:pt x="332101" y="209681"/>
                </a:moveTo>
                <a:lnTo>
                  <a:pt x="342979" y="162032"/>
                </a:lnTo>
                <a:lnTo>
                  <a:pt x="338609" y="115055"/>
                </a:lnTo>
                <a:lnTo>
                  <a:pt x="320374" y="72025"/>
                </a:lnTo>
                <a:lnTo>
                  <a:pt x="289656" y="36213"/>
                </a:lnTo>
                <a:lnTo>
                  <a:pt x="247838" y="10892"/>
                </a:lnTo>
                <a:lnTo>
                  <a:pt x="200185" y="0"/>
                </a:lnTo>
                <a:lnTo>
                  <a:pt x="153203" y="4366"/>
                </a:lnTo>
                <a:lnTo>
                  <a:pt x="110167" y="22603"/>
                </a:lnTo>
                <a:lnTo>
                  <a:pt x="74351" y="53320"/>
                </a:lnTo>
                <a:lnTo>
                  <a:pt x="49031" y="95128"/>
                </a:lnTo>
                <a:lnTo>
                  <a:pt x="39947" y="127361"/>
                </a:lnTo>
                <a:lnTo>
                  <a:pt x="38517" y="138463"/>
                </a:lnTo>
              </a:path>
              <a:path w="343535" h="416560">
                <a:moveTo>
                  <a:pt x="39833" y="302625"/>
                </a:moveTo>
                <a:lnTo>
                  <a:pt x="35183" y="248765"/>
                </a:lnTo>
              </a:path>
            </a:pathLst>
          </a:custGeom>
          <a:ln w="18427">
            <a:solidFill>
              <a:srgbClr val="403BC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960745" y="5773039"/>
            <a:ext cx="3380740" cy="1217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55" dirty="0">
                <a:solidFill>
                  <a:srgbClr val="48485A"/>
                </a:solidFill>
                <a:latin typeface="Cambria"/>
                <a:cs typeface="Cambria"/>
              </a:rPr>
              <a:t>Interactive</a:t>
            </a:r>
            <a:r>
              <a:rPr sz="2200" spc="240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48485A"/>
                </a:solidFill>
                <a:latin typeface="Cambria"/>
                <a:cs typeface="Cambria"/>
              </a:rPr>
              <a:t>Filters</a:t>
            </a:r>
            <a:endParaRPr sz="2200">
              <a:latin typeface="Cambria"/>
              <a:cs typeface="Cambri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50" dirty="0">
                <a:solidFill>
                  <a:srgbClr val="48485A"/>
                </a:solidFill>
                <a:latin typeface="Arial MT"/>
                <a:cs typeface="Arial MT"/>
              </a:rPr>
              <a:t>Drill</a:t>
            </a:r>
            <a:r>
              <a:rPr sz="1750" spc="-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80" dirty="0">
                <a:solidFill>
                  <a:srgbClr val="48485A"/>
                </a:solidFill>
                <a:latin typeface="Arial MT"/>
                <a:cs typeface="Arial MT"/>
              </a:rPr>
              <a:t>down</a:t>
            </a:r>
            <a:r>
              <a:rPr sz="1750" spc="-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by </a:t>
            </a:r>
            <a:r>
              <a:rPr sz="1750" spc="-10" dirty="0">
                <a:solidFill>
                  <a:srgbClr val="48485A"/>
                </a:solidFill>
                <a:latin typeface="Arial MT"/>
                <a:cs typeface="Arial MT"/>
              </a:rPr>
              <a:t>category, </a:t>
            </a: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demographics,</a:t>
            </a:r>
            <a:r>
              <a:rPr sz="1750" spc="9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48485A"/>
                </a:solidFill>
                <a:latin typeface="Arial MT"/>
                <a:cs typeface="Arial MT"/>
              </a:rPr>
              <a:t>and</a:t>
            </a:r>
            <a:r>
              <a:rPr sz="1750" spc="10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80" dirty="0">
                <a:solidFill>
                  <a:srgbClr val="48485A"/>
                </a:solidFill>
                <a:latin typeface="Arial MT"/>
                <a:cs typeface="Arial MT"/>
              </a:rPr>
              <a:t>time</a:t>
            </a:r>
            <a:r>
              <a:rPr sz="17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45" dirty="0">
                <a:solidFill>
                  <a:srgbClr val="48485A"/>
                </a:solidFill>
                <a:latin typeface="Arial MT"/>
                <a:cs typeface="Arial MT"/>
              </a:rPr>
              <a:t>periods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687595" y="5728286"/>
            <a:ext cx="434975" cy="434975"/>
            <a:chOff x="9687595" y="5728286"/>
            <a:chExt cx="434975" cy="434975"/>
          </a:xfrm>
        </p:grpSpPr>
        <p:sp>
          <p:nvSpPr>
            <p:cNvPr id="12" name="object 12"/>
            <p:cNvSpPr/>
            <p:nvPr/>
          </p:nvSpPr>
          <p:spPr>
            <a:xfrm>
              <a:off x="9696752" y="5737443"/>
              <a:ext cx="375285" cy="374015"/>
            </a:xfrm>
            <a:custGeom>
              <a:avLst/>
              <a:gdLst/>
              <a:ahLst/>
              <a:cxnLst/>
              <a:rect l="l" t="t" r="r" b="b"/>
              <a:pathLst>
                <a:path w="375284" h="374014">
                  <a:moveTo>
                    <a:pt x="197176" y="373527"/>
                  </a:moveTo>
                  <a:lnTo>
                    <a:pt x="155797" y="371259"/>
                  </a:lnTo>
                  <a:lnTo>
                    <a:pt x="114609" y="359340"/>
                  </a:lnTo>
                  <a:lnTo>
                    <a:pt x="78463" y="339268"/>
                  </a:lnTo>
                  <a:lnTo>
                    <a:pt x="45659" y="309308"/>
                  </a:lnTo>
                  <a:lnTo>
                    <a:pt x="22148" y="275477"/>
                  </a:lnTo>
                  <a:lnTo>
                    <a:pt x="6479" y="235944"/>
                  </a:lnTo>
                  <a:lnTo>
                    <a:pt x="0" y="191945"/>
                  </a:lnTo>
                  <a:lnTo>
                    <a:pt x="239" y="183741"/>
                  </a:lnTo>
                  <a:lnTo>
                    <a:pt x="6667" y="139083"/>
                  </a:lnTo>
                  <a:lnTo>
                    <a:pt x="21821" y="99673"/>
                  </a:lnTo>
                  <a:lnTo>
                    <a:pt x="45436" y="65270"/>
                  </a:lnTo>
                  <a:lnTo>
                    <a:pt x="75748" y="36912"/>
                  </a:lnTo>
                  <a:lnTo>
                    <a:pt x="112114" y="15790"/>
                  </a:lnTo>
                  <a:lnTo>
                    <a:pt x="151910" y="3433"/>
                  </a:lnTo>
                  <a:lnTo>
                    <a:pt x="180852" y="0"/>
                  </a:lnTo>
                  <a:lnTo>
                    <a:pt x="192290" y="353"/>
                  </a:lnTo>
                  <a:lnTo>
                    <a:pt x="236126" y="6552"/>
                  </a:lnTo>
                  <a:lnTo>
                    <a:pt x="276069" y="22173"/>
                  </a:lnTo>
                  <a:lnTo>
                    <a:pt x="309625" y="44953"/>
                  </a:lnTo>
                  <a:lnTo>
                    <a:pt x="339301" y="77197"/>
                  </a:lnTo>
                  <a:lnTo>
                    <a:pt x="359890" y="113510"/>
                  </a:lnTo>
                  <a:lnTo>
                    <a:pt x="371881" y="154453"/>
                  </a:lnTo>
                  <a:lnTo>
                    <a:pt x="374935" y="184625"/>
                  </a:lnTo>
                  <a:lnTo>
                    <a:pt x="374677" y="198952"/>
                  </a:lnTo>
                </a:path>
              </a:pathLst>
            </a:custGeom>
            <a:ln w="18313">
              <a:solidFill>
                <a:srgbClr val="403B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95923" y="5938097"/>
              <a:ext cx="226340" cy="22502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762839" y="5803159"/>
              <a:ext cx="243204" cy="243204"/>
            </a:xfrm>
            <a:custGeom>
              <a:avLst/>
              <a:gdLst/>
              <a:ahLst/>
              <a:cxnLst/>
              <a:rect l="l" t="t" r="r" b="b"/>
              <a:pathLst>
                <a:path w="243204" h="243204">
                  <a:moveTo>
                    <a:pt x="116160" y="242943"/>
                  </a:moveTo>
                  <a:lnTo>
                    <a:pt x="69294" y="231331"/>
                  </a:lnTo>
                  <a:lnTo>
                    <a:pt x="31821" y="203611"/>
                  </a:lnTo>
                  <a:lnTo>
                    <a:pt x="7477" y="163863"/>
                  </a:lnTo>
                  <a:lnTo>
                    <a:pt x="0" y="116165"/>
                  </a:lnTo>
                  <a:lnTo>
                    <a:pt x="11614" y="69301"/>
                  </a:lnTo>
                  <a:lnTo>
                    <a:pt x="39337" y="31831"/>
                  </a:lnTo>
                  <a:lnTo>
                    <a:pt x="79087" y="7487"/>
                  </a:lnTo>
                  <a:lnTo>
                    <a:pt x="126788" y="0"/>
                  </a:lnTo>
                  <a:lnTo>
                    <a:pt x="171490" y="10626"/>
                  </a:lnTo>
                  <a:lnTo>
                    <a:pt x="207999" y="36054"/>
                  </a:lnTo>
                  <a:lnTo>
                    <a:pt x="232957" y="72882"/>
                  </a:lnTo>
                  <a:lnTo>
                    <a:pt x="243007" y="117713"/>
                  </a:lnTo>
                </a:path>
              </a:pathLst>
            </a:custGeom>
            <a:ln w="18313">
              <a:solidFill>
                <a:srgbClr val="403B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15242" y="5855433"/>
              <a:ext cx="140016" cy="13844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950162" y="6007717"/>
              <a:ext cx="121920" cy="80645"/>
            </a:xfrm>
            <a:custGeom>
              <a:avLst/>
              <a:gdLst/>
              <a:ahLst/>
              <a:cxnLst/>
              <a:rect l="l" t="t" r="r" b="b"/>
              <a:pathLst>
                <a:path w="121920" h="80645">
                  <a:moveTo>
                    <a:pt x="121378" y="0"/>
                  </a:moveTo>
                  <a:lnTo>
                    <a:pt x="40925" y="80482"/>
                  </a:lnTo>
                </a:path>
                <a:path w="121920" h="80645">
                  <a:moveTo>
                    <a:pt x="0" y="39890"/>
                  </a:moveTo>
                  <a:lnTo>
                    <a:pt x="40925" y="80482"/>
                  </a:lnTo>
                </a:path>
              </a:pathLst>
            </a:custGeom>
            <a:ln w="18313">
              <a:solidFill>
                <a:srgbClr val="403B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403585" y="5773039"/>
            <a:ext cx="3298825" cy="1217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254" dirty="0">
                <a:solidFill>
                  <a:srgbClr val="48485A"/>
                </a:solidFill>
                <a:latin typeface="Cambria"/>
                <a:cs typeface="Cambria"/>
              </a:rPr>
              <a:t>KPI</a:t>
            </a:r>
            <a:r>
              <a:rPr sz="2200" spc="155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2200" spc="200" dirty="0">
                <a:solidFill>
                  <a:srgbClr val="48485A"/>
                </a:solidFill>
                <a:latin typeface="Cambria"/>
                <a:cs typeface="Cambria"/>
              </a:rPr>
              <a:t>Tracking</a:t>
            </a:r>
            <a:endParaRPr sz="2200">
              <a:latin typeface="Cambria"/>
              <a:cs typeface="Cambri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90" dirty="0">
                <a:solidFill>
                  <a:srgbClr val="48485A"/>
                </a:solidFill>
                <a:latin typeface="Arial MT"/>
                <a:cs typeface="Arial MT"/>
              </a:rPr>
              <a:t>Monitor</a:t>
            </a:r>
            <a:r>
              <a:rPr sz="1750" spc="-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key</a:t>
            </a:r>
            <a:r>
              <a:rPr sz="1750" spc="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48485A"/>
                </a:solidFill>
                <a:latin typeface="Arial MT"/>
                <a:cs typeface="Arial MT"/>
              </a:rPr>
              <a:t>performance </a:t>
            </a:r>
            <a:r>
              <a:rPr sz="1750" spc="50" dirty="0">
                <a:solidFill>
                  <a:srgbClr val="48485A"/>
                </a:solidFill>
                <a:latin typeface="Arial MT"/>
                <a:cs typeface="Arial MT"/>
              </a:rPr>
              <a:t>indicators</a:t>
            </a:r>
            <a:r>
              <a:rPr sz="1750" spc="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48485A"/>
                </a:solidFill>
                <a:latin typeface="Arial MT"/>
                <a:cs typeface="Arial MT"/>
              </a:rPr>
              <a:t>and</a:t>
            </a:r>
            <a:r>
              <a:rPr sz="1750" spc="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8485A"/>
                </a:solidFill>
                <a:latin typeface="Arial MT"/>
                <a:cs typeface="Arial MT"/>
              </a:rPr>
              <a:t>business</a:t>
            </a:r>
            <a:r>
              <a:rPr sz="1750" spc="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45" dirty="0">
                <a:solidFill>
                  <a:srgbClr val="48485A"/>
                </a:solidFill>
                <a:latin typeface="Arial MT"/>
                <a:cs typeface="Arial MT"/>
              </a:rPr>
              <a:t>metrics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214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263" y="2669540"/>
            <a:ext cx="633412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spc="260" dirty="0"/>
              <a:t>Business</a:t>
            </a:r>
            <a:r>
              <a:rPr sz="3450" spc="195" dirty="0"/>
              <a:t> </a:t>
            </a:r>
            <a:r>
              <a:rPr sz="3450" spc="380" dirty="0"/>
              <a:t>Recommendations</a:t>
            </a:r>
            <a:endParaRPr sz="3450"/>
          </a:p>
        </p:txBody>
      </p:sp>
      <p:grpSp>
        <p:nvGrpSpPr>
          <p:cNvPr id="4" name="object 4"/>
          <p:cNvGrpSpPr/>
          <p:nvPr/>
        </p:nvGrpSpPr>
        <p:grpSpPr>
          <a:xfrm>
            <a:off x="619963" y="3520821"/>
            <a:ext cx="4345940" cy="2296160"/>
            <a:chOff x="619963" y="3520821"/>
            <a:chExt cx="4345940" cy="2296160"/>
          </a:xfrm>
        </p:grpSpPr>
        <p:sp>
          <p:nvSpPr>
            <p:cNvPr id="5" name="object 5"/>
            <p:cNvSpPr/>
            <p:nvPr/>
          </p:nvSpPr>
          <p:spPr>
            <a:xfrm>
              <a:off x="619963" y="3520821"/>
              <a:ext cx="4345940" cy="2296160"/>
            </a:xfrm>
            <a:custGeom>
              <a:avLst/>
              <a:gdLst/>
              <a:ahLst/>
              <a:cxnLst/>
              <a:rect l="l" t="t" r="r" b="b"/>
              <a:pathLst>
                <a:path w="4345940" h="2296160">
                  <a:moveTo>
                    <a:pt x="4318812" y="0"/>
                  </a:moveTo>
                  <a:lnTo>
                    <a:pt x="26581" y="0"/>
                  </a:lnTo>
                  <a:lnTo>
                    <a:pt x="16234" y="2093"/>
                  </a:lnTo>
                  <a:lnTo>
                    <a:pt x="7785" y="7794"/>
                  </a:lnTo>
                  <a:lnTo>
                    <a:pt x="2088" y="16234"/>
                  </a:lnTo>
                  <a:lnTo>
                    <a:pt x="0" y="26542"/>
                  </a:lnTo>
                  <a:lnTo>
                    <a:pt x="0" y="2268981"/>
                  </a:lnTo>
                  <a:lnTo>
                    <a:pt x="2088" y="2279364"/>
                  </a:lnTo>
                  <a:lnTo>
                    <a:pt x="7785" y="2287841"/>
                  </a:lnTo>
                  <a:lnTo>
                    <a:pt x="16234" y="2293556"/>
                  </a:lnTo>
                  <a:lnTo>
                    <a:pt x="26581" y="2295652"/>
                  </a:lnTo>
                  <a:lnTo>
                    <a:pt x="4318812" y="2295652"/>
                  </a:lnTo>
                  <a:lnTo>
                    <a:pt x="4329175" y="2293556"/>
                  </a:lnTo>
                  <a:lnTo>
                    <a:pt x="4337608" y="2287841"/>
                  </a:lnTo>
                  <a:lnTo>
                    <a:pt x="4343280" y="2279364"/>
                  </a:lnTo>
                  <a:lnTo>
                    <a:pt x="4345355" y="2268981"/>
                  </a:lnTo>
                  <a:lnTo>
                    <a:pt x="4345355" y="26542"/>
                  </a:lnTo>
                  <a:lnTo>
                    <a:pt x="4343280" y="16234"/>
                  </a:lnTo>
                  <a:lnTo>
                    <a:pt x="4337608" y="7794"/>
                  </a:lnTo>
                  <a:lnTo>
                    <a:pt x="4329175" y="2093"/>
                  </a:lnTo>
                  <a:lnTo>
                    <a:pt x="4318812" y="0"/>
                  </a:lnTo>
                  <a:close/>
                </a:path>
              </a:pathLst>
            </a:custGeom>
            <a:solidFill>
              <a:srgbClr val="EAE8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7001" y="3697846"/>
              <a:ext cx="531380" cy="5313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52969" y="3859398"/>
              <a:ext cx="219710" cy="208915"/>
            </a:xfrm>
            <a:custGeom>
              <a:avLst/>
              <a:gdLst/>
              <a:ahLst/>
              <a:cxnLst/>
              <a:rect l="l" t="t" r="r" b="b"/>
              <a:pathLst>
                <a:path w="219709" h="208914">
                  <a:moveTo>
                    <a:pt x="194150" y="1729"/>
                  </a:moveTo>
                  <a:lnTo>
                    <a:pt x="172608" y="26160"/>
                  </a:lnTo>
                  <a:lnTo>
                    <a:pt x="167539" y="27949"/>
                  </a:lnTo>
                </a:path>
                <a:path w="219709" h="208914">
                  <a:moveTo>
                    <a:pt x="107665" y="166736"/>
                  </a:moveTo>
                  <a:lnTo>
                    <a:pt x="88377" y="179986"/>
                  </a:lnTo>
                </a:path>
                <a:path w="219709" h="208914">
                  <a:moveTo>
                    <a:pt x="55072" y="203177"/>
                  </a:moveTo>
                  <a:lnTo>
                    <a:pt x="50883" y="205917"/>
                  </a:lnTo>
                  <a:lnTo>
                    <a:pt x="49260" y="206785"/>
                  </a:lnTo>
                  <a:lnTo>
                    <a:pt x="43857" y="208314"/>
                  </a:lnTo>
                </a:path>
                <a:path w="219709" h="208914">
                  <a:moveTo>
                    <a:pt x="29051" y="163239"/>
                  </a:moveTo>
                  <a:lnTo>
                    <a:pt x="23693" y="159852"/>
                  </a:lnTo>
                  <a:lnTo>
                    <a:pt x="20629" y="157292"/>
                  </a:lnTo>
                  <a:lnTo>
                    <a:pt x="18275" y="154516"/>
                  </a:lnTo>
                  <a:lnTo>
                    <a:pt x="14699" y="149350"/>
                  </a:lnTo>
                </a:path>
                <a:path w="219709" h="208914">
                  <a:moveTo>
                    <a:pt x="29051" y="163239"/>
                  </a:moveTo>
                  <a:lnTo>
                    <a:pt x="23862" y="166938"/>
                  </a:lnTo>
                  <a:lnTo>
                    <a:pt x="21212" y="169101"/>
                  </a:lnTo>
                  <a:lnTo>
                    <a:pt x="18623" y="172067"/>
                  </a:lnTo>
                  <a:lnTo>
                    <a:pt x="14886" y="177511"/>
                  </a:lnTo>
                </a:path>
                <a:path w="219709" h="208914">
                  <a:moveTo>
                    <a:pt x="14886" y="177511"/>
                  </a:moveTo>
                  <a:lnTo>
                    <a:pt x="10839" y="171817"/>
                  </a:lnTo>
                  <a:lnTo>
                    <a:pt x="8121" y="168893"/>
                  </a:lnTo>
                  <a:lnTo>
                    <a:pt x="5301" y="166728"/>
                  </a:lnTo>
                  <a:lnTo>
                    <a:pt x="0" y="163370"/>
                  </a:lnTo>
                </a:path>
                <a:path w="219709" h="208914">
                  <a:moveTo>
                    <a:pt x="14699" y="149350"/>
                  </a:moveTo>
                  <a:lnTo>
                    <a:pt x="10817" y="155119"/>
                  </a:lnTo>
                  <a:lnTo>
                    <a:pt x="8609" y="157632"/>
                  </a:lnTo>
                  <a:lnTo>
                    <a:pt x="5877" y="159859"/>
                  </a:lnTo>
                  <a:lnTo>
                    <a:pt x="0" y="163370"/>
                  </a:lnTo>
                </a:path>
                <a:path w="219709" h="208914">
                  <a:moveTo>
                    <a:pt x="219419" y="27618"/>
                  </a:moveTo>
                  <a:lnTo>
                    <a:pt x="210256" y="24458"/>
                  </a:lnTo>
                  <a:lnTo>
                    <a:pt x="202722" y="18736"/>
                  </a:lnTo>
                  <a:lnTo>
                    <a:pt x="197317" y="10973"/>
                  </a:lnTo>
                  <a:lnTo>
                    <a:pt x="194539" y="1690"/>
                  </a:lnTo>
                </a:path>
                <a:path w="219709" h="208914">
                  <a:moveTo>
                    <a:pt x="219399" y="28143"/>
                  </a:moveTo>
                  <a:lnTo>
                    <a:pt x="210580" y="31322"/>
                  </a:lnTo>
                  <a:lnTo>
                    <a:pt x="203176" y="36771"/>
                  </a:lnTo>
                  <a:lnTo>
                    <a:pt x="197606" y="44083"/>
                  </a:lnTo>
                  <a:lnTo>
                    <a:pt x="194286" y="52848"/>
                  </a:lnTo>
                </a:path>
                <a:path w="219709" h="208914">
                  <a:moveTo>
                    <a:pt x="193703" y="52866"/>
                  </a:moveTo>
                  <a:lnTo>
                    <a:pt x="190294" y="43904"/>
                  </a:lnTo>
                  <a:lnTo>
                    <a:pt x="184536" y="36484"/>
                  </a:lnTo>
                  <a:lnTo>
                    <a:pt x="176884" y="31040"/>
                  </a:lnTo>
                  <a:lnTo>
                    <a:pt x="167788" y="28007"/>
                  </a:lnTo>
                </a:path>
                <a:path w="219709" h="208914">
                  <a:moveTo>
                    <a:pt x="194150" y="0"/>
                  </a:moveTo>
                  <a:lnTo>
                    <a:pt x="194131" y="563"/>
                  </a:lnTo>
                </a:path>
                <a:path w="219709" h="208914">
                  <a:moveTo>
                    <a:pt x="194131" y="563"/>
                  </a:moveTo>
                  <a:lnTo>
                    <a:pt x="194014" y="1010"/>
                  </a:lnTo>
                </a:path>
                <a:path w="219709" h="208914">
                  <a:moveTo>
                    <a:pt x="194014" y="1010"/>
                  </a:moveTo>
                  <a:lnTo>
                    <a:pt x="194189" y="1068"/>
                  </a:lnTo>
                </a:path>
                <a:path w="219709" h="208914">
                  <a:moveTo>
                    <a:pt x="194189" y="1068"/>
                  </a:moveTo>
                  <a:lnTo>
                    <a:pt x="194150" y="1729"/>
                  </a:lnTo>
                </a:path>
                <a:path w="219709" h="208914">
                  <a:moveTo>
                    <a:pt x="166217" y="27968"/>
                  </a:moveTo>
                  <a:lnTo>
                    <a:pt x="167539" y="27949"/>
                  </a:lnTo>
                </a:path>
                <a:path w="219709" h="208914">
                  <a:moveTo>
                    <a:pt x="194034" y="52794"/>
                  </a:moveTo>
                  <a:lnTo>
                    <a:pt x="194073" y="54862"/>
                  </a:lnTo>
                </a:path>
                <a:path w="219709" h="208914">
                  <a:moveTo>
                    <a:pt x="194073" y="54862"/>
                  </a:moveTo>
                  <a:lnTo>
                    <a:pt x="194170" y="55667"/>
                  </a:lnTo>
                </a:path>
                <a:path w="219709" h="208914">
                  <a:moveTo>
                    <a:pt x="219108" y="27968"/>
                  </a:moveTo>
                  <a:lnTo>
                    <a:pt x="218777" y="27968"/>
                  </a:lnTo>
                </a:path>
                <a:path w="219709" h="208914">
                  <a:moveTo>
                    <a:pt x="219108" y="27968"/>
                  </a:moveTo>
                  <a:lnTo>
                    <a:pt x="219360" y="27949"/>
                  </a:lnTo>
                </a:path>
                <a:path w="219709" h="208914">
                  <a:moveTo>
                    <a:pt x="109834" y="22370"/>
                  </a:moveTo>
                  <a:lnTo>
                    <a:pt x="106473" y="19455"/>
                  </a:lnTo>
                </a:path>
                <a:path w="219709" h="208914">
                  <a:moveTo>
                    <a:pt x="109834" y="22370"/>
                  </a:moveTo>
                  <a:lnTo>
                    <a:pt x="109995" y="22506"/>
                  </a:lnTo>
                  <a:lnTo>
                    <a:pt x="110242" y="22798"/>
                  </a:lnTo>
                  <a:lnTo>
                    <a:pt x="110571" y="23245"/>
                  </a:lnTo>
                </a:path>
                <a:path w="219709" h="208914">
                  <a:moveTo>
                    <a:pt x="110571" y="23245"/>
                  </a:moveTo>
                  <a:lnTo>
                    <a:pt x="135977" y="87759"/>
                  </a:lnTo>
                </a:path>
                <a:path w="219709" h="208914">
                  <a:moveTo>
                    <a:pt x="210050" y="89866"/>
                  </a:moveTo>
                  <a:lnTo>
                    <a:pt x="135977" y="87759"/>
                  </a:lnTo>
                </a:path>
                <a:path w="219709" h="208914">
                  <a:moveTo>
                    <a:pt x="170674" y="205861"/>
                  </a:moveTo>
                  <a:lnTo>
                    <a:pt x="169115" y="208023"/>
                  </a:lnTo>
                </a:path>
                <a:path w="219709" h="208914">
                  <a:moveTo>
                    <a:pt x="170674" y="205861"/>
                  </a:moveTo>
                  <a:lnTo>
                    <a:pt x="170907" y="205367"/>
                  </a:lnTo>
                </a:path>
                <a:path w="219709" h="208914">
                  <a:moveTo>
                    <a:pt x="170907" y="205367"/>
                  </a:moveTo>
                  <a:lnTo>
                    <a:pt x="171137" y="204682"/>
                  </a:lnTo>
                </a:path>
                <a:path w="219709" h="208914">
                  <a:moveTo>
                    <a:pt x="171137" y="204682"/>
                  </a:moveTo>
                  <a:lnTo>
                    <a:pt x="171213" y="203986"/>
                  </a:lnTo>
                </a:path>
                <a:path w="219709" h="208914">
                  <a:moveTo>
                    <a:pt x="171213" y="203986"/>
                  </a:moveTo>
                  <a:lnTo>
                    <a:pt x="171185" y="203266"/>
                  </a:lnTo>
                </a:path>
                <a:path w="219709" h="208914">
                  <a:moveTo>
                    <a:pt x="171185" y="203266"/>
                  </a:moveTo>
                  <a:lnTo>
                    <a:pt x="152158" y="137912"/>
                  </a:lnTo>
                </a:path>
                <a:path w="219709" h="208914">
                  <a:moveTo>
                    <a:pt x="152158" y="137912"/>
                  </a:moveTo>
                  <a:lnTo>
                    <a:pt x="152096" y="137287"/>
                  </a:lnTo>
                </a:path>
                <a:path w="219709" h="208914">
                  <a:moveTo>
                    <a:pt x="152096" y="137287"/>
                  </a:moveTo>
                  <a:lnTo>
                    <a:pt x="152166" y="136534"/>
                  </a:lnTo>
                </a:path>
                <a:path w="219709" h="208914">
                  <a:moveTo>
                    <a:pt x="152166" y="136534"/>
                  </a:moveTo>
                  <a:lnTo>
                    <a:pt x="152405" y="135687"/>
                  </a:lnTo>
                </a:path>
                <a:path w="219709" h="208914">
                  <a:moveTo>
                    <a:pt x="152405" y="135687"/>
                  </a:moveTo>
                  <a:lnTo>
                    <a:pt x="152839" y="134972"/>
                  </a:lnTo>
                </a:path>
                <a:path w="219709" h="208914">
                  <a:moveTo>
                    <a:pt x="152839" y="134972"/>
                  </a:moveTo>
                  <a:lnTo>
                    <a:pt x="153400" y="134354"/>
                  </a:lnTo>
                </a:path>
                <a:path w="219709" h="208914">
                  <a:moveTo>
                    <a:pt x="153400" y="134354"/>
                  </a:moveTo>
                  <a:lnTo>
                    <a:pt x="210050" y="89866"/>
                  </a:lnTo>
                </a:path>
                <a:path w="219709" h="208914">
                  <a:moveTo>
                    <a:pt x="169115" y="208023"/>
                  </a:moveTo>
                  <a:lnTo>
                    <a:pt x="107665" y="166736"/>
                  </a:lnTo>
                </a:path>
                <a:path w="219709" h="208914">
                  <a:moveTo>
                    <a:pt x="63548" y="135939"/>
                  </a:moveTo>
                  <a:lnTo>
                    <a:pt x="43857" y="208314"/>
                  </a:lnTo>
                </a:path>
                <a:path w="219709" h="208914">
                  <a:moveTo>
                    <a:pt x="63548" y="135939"/>
                  </a:moveTo>
                  <a:lnTo>
                    <a:pt x="4299" y="89837"/>
                  </a:lnTo>
                </a:path>
                <a:path w="219709" h="208914">
                  <a:moveTo>
                    <a:pt x="88377" y="179986"/>
                  </a:moveTo>
                  <a:lnTo>
                    <a:pt x="55072" y="203177"/>
                  </a:lnTo>
                </a:path>
                <a:path w="219709" h="208914">
                  <a:moveTo>
                    <a:pt x="4299" y="89837"/>
                  </a:moveTo>
                  <a:lnTo>
                    <a:pt x="9197" y="88171"/>
                  </a:lnTo>
                </a:path>
                <a:path w="219709" h="208914">
                  <a:moveTo>
                    <a:pt x="9197" y="88171"/>
                  </a:moveTo>
                  <a:lnTo>
                    <a:pt x="10017" y="87973"/>
                  </a:lnTo>
                </a:path>
                <a:path w="219709" h="208914">
                  <a:moveTo>
                    <a:pt x="10017" y="87973"/>
                  </a:moveTo>
                  <a:lnTo>
                    <a:pt x="79222" y="87767"/>
                  </a:lnTo>
                </a:path>
                <a:path w="219709" h="208914">
                  <a:moveTo>
                    <a:pt x="106473" y="19455"/>
                  </a:moveTo>
                  <a:lnTo>
                    <a:pt x="79222" y="87767"/>
                  </a:lnTo>
                </a:path>
              </a:pathLst>
            </a:custGeom>
            <a:ln w="971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4351" y="4388357"/>
            <a:ext cx="3634104" cy="1217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55" dirty="0">
                <a:solidFill>
                  <a:srgbClr val="48485A"/>
                </a:solidFill>
                <a:latin typeface="Cambria"/>
                <a:cs typeface="Cambria"/>
              </a:rPr>
              <a:t>Boost</a:t>
            </a:r>
            <a:r>
              <a:rPr sz="1700" spc="105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1700" spc="135" dirty="0">
                <a:solidFill>
                  <a:srgbClr val="48485A"/>
                </a:solidFill>
                <a:latin typeface="Cambria"/>
                <a:cs typeface="Cambria"/>
              </a:rPr>
              <a:t>Subscriptions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5600"/>
              </a:lnSpc>
              <a:spcBef>
                <a:spcPts val="745"/>
              </a:spcBef>
            </a:pPr>
            <a:r>
              <a:rPr sz="1350" spc="50" dirty="0">
                <a:solidFill>
                  <a:srgbClr val="48485A"/>
                </a:solidFill>
                <a:latin typeface="Arial MT"/>
                <a:cs typeface="Arial MT"/>
              </a:rPr>
              <a:t>Promote</a:t>
            </a:r>
            <a:r>
              <a:rPr sz="1350" spc="2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10" dirty="0">
                <a:solidFill>
                  <a:srgbClr val="48485A"/>
                </a:solidFill>
                <a:latin typeface="Arial MT"/>
                <a:cs typeface="Arial MT"/>
              </a:rPr>
              <a:t>exclusive</a:t>
            </a:r>
            <a:r>
              <a:rPr sz="1350" spc="5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10" dirty="0">
                <a:solidFill>
                  <a:srgbClr val="48485A"/>
                </a:solidFill>
                <a:latin typeface="Arial MT"/>
                <a:cs typeface="Arial MT"/>
              </a:rPr>
              <a:t>benefits</a:t>
            </a:r>
            <a:r>
              <a:rPr sz="135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50" dirty="0">
                <a:solidFill>
                  <a:srgbClr val="48485A"/>
                </a:solidFill>
                <a:latin typeface="Arial MT"/>
                <a:cs typeface="Arial MT"/>
              </a:rPr>
              <a:t>and</a:t>
            </a:r>
            <a:r>
              <a:rPr sz="1350" spc="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10" dirty="0">
                <a:solidFill>
                  <a:srgbClr val="48485A"/>
                </a:solidFill>
                <a:latin typeface="Arial MT"/>
                <a:cs typeface="Arial MT"/>
              </a:rPr>
              <a:t>perks</a:t>
            </a:r>
            <a:r>
              <a:rPr sz="1350" spc="7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50" dirty="0">
                <a:solidFill>
                  <a:srgbClr val="48485A"/>
                </a:solidFill>
                <a:latin typeface="Arial MT"/>
                <a:cs typeface="Arial MT"/>
              </a:rPr>
              <a:t>for </a:t>
            </a:r>
            <a:r>
              <a:rPr sz="1350" spc="10" dirty="0">
                <a:solidFill>
                  <a:srgbClr val="48485A"/>
                </a:solidFill>
                <a:latin typeface="Arial MT"/>
                <a:cs typeface="Arial MT"/>
              </a:rPr>
              <a:t>subscribers</a:t>
            </a:r>
            <a:r>
              <a:rPr sz="1350" spc="2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80" dirty="0">
                <a:solidFill>
                  <a:srgbClr val="48485A"/>
                </a:solidFill>
                <a:latin typeface="Arial MT"/>
                <a:cs typeface="Arial MT"/>
              </a:rPr>
              <a:t>to</a:t>
            </a:r>
            <a:r>
              <a:rPr sz="13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10" dirty="0">
                <a:solidFill>
                  <a:srgbClr val="48485A"/>
                </a:solidFill>
                <a:latin typeface="Arial MT"/>
                <a:cs typeface="Arial MT"/>
              </a:rPr>
              <a:t>increase</a:t>
            </a:r>
            <a:r>
              <a:rPr sz="1350" spc="7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10" dirty="0">
                <a:solidFill>
                  <a:srgbClr val="48485A"/>
                </a:solidFill>
                <a:latin typeface="Arial MT"/>
                <a:cs typeface="Arial MT"/>
              </a:rPr>
              <a:t>conversion</a:t>
            </a:r>
            <a:r>
              <a:rPr sz="1350" spc="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90" dirty="0">
                <a:solidFill>
                  <a:srgbClr val="48485A"/>
                </a:solidFill>
                <a:latin typeface="Arial MT"/>
                <a:cs typeface="Arial MT"/>
              </a:rPr>
              <a:t>from</a:t>
            </a:r>
            <a:r>
              <a:rPr sz="1350" spc="6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48485A"/>
                </a:solidFill>
                <a:latin typeface="Arial MT"/>
                <a:cs typeface="Arial MT"/>
              </a:rPr>
              <a:t>non- </a:t>
            </a:r>
            <a:r>
              <a:rPr sz="1350" spc="-10" dirty="0">
                <a:solidFill>
                  <a:srgbClr val="48485A"/>
                </a:solidFill>
                <a:latin typeface="Arial MT"/>
                <a:cs typeface="Arial MT"/>
              </a:rPr>
              <a:t>subscribers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42484" y="3520821"/>
            <a:ext cx="4345305" cy="2296160"/>
            <a:chOff x="5142484" y="3520821"/>
            <a:chExt cx="4345305" cy="2296160"/>
          </a:xfrm>
        </p:grpSpPr>
        <p:sp>
          <p:nvSpPr>
            <p:cNvPr id="10" name="object 10"/>
            <p:cNvSpPr/>
            <p:nvPr/>
          </p:nvSpPr>
          <p:spPr>
            <a:xfrm>
              <a:off x="5142484" y="3520821"/>
              <a:ext cx="4345305" cy="2296160"/>
            </a:xfrm>
            <a:custGeom>
              <a:avLst/>
              <a:gdLst/>
              <a:ahLst/>
              <a:cxnLst/>
              <a:rect l="l" t="t" r="r" b="b"/>
              <a:pathLst>
                <a:path w="4345305" h="2296160">
                  <a:moveTo>
                    <a:pt x="4318762" y="0"/>
                  </a:moveTo>
                  <a:lnTo>
                    <a:pt x="26542" y="0"/>
                  </a:lnTo>
                  <a:lnTo>
                    <a:pt x="16180" y="2093"/>
                  </a:lnTo>
                  <a:lnTo>
                    <a:pt x="7746" y="7794"/>
                  </a:lnTo>
                  <a:lnTo>
                    <a:pt x="2075" y="16234"/>
                  </a:lnTo>
                  <a:lnTo>
                    <a:pt x="0" y="26542"/>
                  </a:lnTo>
                  <a:lnTo>
                    <a:pt x="0" y="2268981"/>
                  </a:lnTo>
                  <a:lnTo>
                    <a:pt x="2075" y="2279364"/>
                  </a:lnTo>
                  <a:lnTo>
                    <a:pt x="7747" y="2287841"/>
                  </a:lnTo>
                  <a:lnTo>
                    <a:pt x="16180" y="2293556"/>
                  </a:lnTo>
                  <a:lnTo>
                    <a:pt x="26542" y="2295652"/>
                  </a:lnTo>
                  <a:lnTo>
                    <a:pt x="4318762" y="2295652"/>
                  </a:lnTo>
                  <a:lnTo>
                    <a:pt x="4329124" y="2293556"/>
                  </a:lnTo>
                  <a:lnTo>
                    <a:pt x="4337558" y="2287841"/>
                  </a:lnTo>
                  <a:lnTo>
                    <a:pt x="4343229" y="2279364"/>
                  </a:lnTo>
                  <a:lnTo>
                    <a:pt x="4345305" y="2268981"/>
                  </a:lnTo>
                  <a:lnTo>
                    <a:pt x="4345305" y="26542"/>
                  </a:lnTo>
                  <a:lnTo>
                    <a:pt x="4343229" y="16234"/>
                  </a:lnTo>
                  <a:lnTo>
                    <a:pt x="4337558" y="7794"/>
                  </a:lnTo>
                  <a:lnTo>
                    <a:pt x="4329124" y="2093"/>
                  </a:lnTo>
                  <a:lnTo>
                    <a:pt x="4318762" y="0"/>
                  </a:lnTo>
                  <a:close/>
                </a:path>
              </a:pathLst>
            </a:custGeom>
            <a:solidFill>
              <a:srgbClr val="EAE8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9522" y="3697846"/>
              <a:ext cx="531380" cy="5313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2924" y="3848998"/>
              <a:ext cx="224475" cy="22910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307329" y="4388357"/>
            <a:ext cx="3611879" cy="938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95" dirty="0">
                <a:solidFill>
                  <a:srgbClr val="48485A"/>
                </a:solidFill>
                <a:latin typeface="Cambria"/>
                <a:cs typeface="Cambria"/>
              </a:rPr>
              <a:t>Customer</a:t>
            </a:r>
            <a:r>
              <a:rPr sz="1700" spc="120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1700" spc="175" dirty="0">
                <a:solidFill>
                  <a:srgbClr val="48485A"/>
                </a:solidFill>
                <a:latin typeface="Cambria"/>
                <a:cs typeface="Cambria"/>
              </a:rPr>
              <a:t>Loyalty</a:t>
            </a:r>
            <a:r>
              <a:rPr sz="1700" spc="114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1700" spc="160" dirty="0">
                <a:solidFill>
                  <a:srgbClr val="48485A"/>
                </a:solidFill>
                <a:latin typeface="Cambria"/>
                <a:cs typeface="Cambria"/>
              </a:rPr>
              <a:t>Programs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5600"/>
              </a:lnSpc>
              <a:spcBef>
                <a:spcPts val="745"/>
              </a:spcBef>
            </a:pP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Reward</a:t>
            </a:r>
            <a:r>
              <a:rPr sz="1350" spc="6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repeat</a:t>
            </a:r>
            <a:r>
              <a:rPr sz="1350" spc="9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buyers</a:t>
            </a:r>
            <a:r>
              <a:rPr sz="1350" spc="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80" dirty="0">
                <a:solidFill>
                  <a:srgbClr val="48485A"/>
                </a:solidFill>
                <a:latin typeface="Arial MT"/>
                <a:cs typeface="Arial MT"/>
              </a:rPr>
              <a:t>to</a:t>
            </a:r>
            <a:r>
              <a:rPr sz="13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move</a:t>
            </a:r>
            <a:r>
              <a:rPr sz="1350" spc="8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70" dirty="0">
                <a:solidFill>
                  <a:srgbClr val="48485A"/>
                </a:solidFill>
                <a:latin typeface="Arial MT"/>
                <a:cs typeface="Arial MT"/>
              </a:rPr>
              <a:t>them</a:t>
            </a:r>
            <a:r>
              <a:rPr sz="1350" spc="7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65" dirty="0">
                <a:solidFill>
                  <a:srgbClr val="48485A"/>
                </a:solidFill>
                <a:latin typeface="Arial MT"/>
                <a:cs typeface="Arial MT"/>
              </a:rPr>
              <a:t>into</a:t>
            </a:r>
            <a:r>
              <a:rPr sz="1350" spc="5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30" dirty="0">
                <a:solidFill>
                  <a:srgbClr val="48485A"/>
                </a:solidFill>
                <a:latin typeface="Arial MT"/>
                <a:cs typeface="Arial MT"/>
              </a:rPr>
              <a:t>the 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"Loyal"</a:t>
            </a:r>
            <a:r>
              <a:rPr sz="1350" spc="8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segment</a:t>
            </a:r>
            <a:r>
              <a:rPr sz="1350" spc="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50" dirty="0">
                <a:solidFill>
                  <a:srgbClr val="48485A"/>
                </a:solidFill>
                <a:latin typeface="Arial MT"/>
                <a:cs typeface="Arial MT"/>
              </a:rPr>
              <a:t>and</a:t>
            </a:r>
            <a:r>
              <a:rPr sz="1350" spc="8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increase</a:t>
            </a:r>
            <a:r>
              <a:rPr sz="1350" spc="7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55" dirty="0">
                <a:solidFill>
                  <a:srgbClr val="48485A"/>
                </a:solidFill>
                <a:latin typeface="Arial MT"/>
                <a:cs typeface="Arial MT"/>
              </a:rPr>
              <a:t>lifetime </a:t>
            </a:r>
            <a:r>
              <a:rPr sz="1350" spc="-20" dirty="0">
                <a:solidFill>
                  <a:srgbClr val="48485A"/>
                </a:solidFill>
                <a:latin typeface="Arial MT"/>
                <a:cs typeface="Arial MT"/>
              </a:rPr>
              <a:t>value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664954" y="3520821"/>
            <a:ext cx="4345305" cy="2296160"/>
            <a:chOff x="9664954" y="3520821"/>
            <a:chExt cx="4345305" cy="2296160"/>
          </a:xfrm>
        </p:grpSpPr>
        <p:sp>
          <p:nvSpPr>
            <p:cNvPr id="15" name="object 15"/>
            <p:cNvSpPr/>
            <p:nvPr/>
          </p:nvSpPr>
          <p:spPr>
            <a:xfrm>
              <a:off x="9664954" y="3520821"/>
              <a:ext cx="4345305" cy="2296160"/>
            </a:xfrm>
            <a:custGeom>
              <a:avLst/>
              <a:gdLst/>
              <a:ahLst/>
              <a:cxnLst/>
              <a:rect l="l" t="t" r="r" b="b"/>
              <a:pathLst>
                <a:path w="4345305" h="2296160">
                  <a:moveTo>
                    <a:pt x="4318761" y="0"/>
                  </a:moveTo>
                  <a:lnTo>
                    <a:pt x="26543" y="0"/>
                  </a:lnTo>
                  <a:lnTo>
                    <a:pt x="16180" y="2093"/>
                  </a:lnTo>
                  <a:lnTo>
                    <a:pt x="7747" y="7794"/>
                  </a:lnTo>
                  <a:lnTo>
                    <a:pt x="2075" y="16234"/>
                  </a:lnTo>
                  <a:lnTo>
                    <a:pt x="0" y="26542"/>
                  </a:lnTo>
                  <a:lnTo>
                    <a:pt x="0" y="2268981"/>
                  </a:lnTo>
                  <a:lnTo>
                    <a:pt x="2075" y="2279364"/>
                  </a:lnTo>
                  <a:lnTo>
                    <a:pt x="7747" y="2287841"/>
                  </a:lnTo>
                  <a:lnTo>
                    <a:pt x="16180" y="2293556"/>
                  </a:lnTo>
                  <a:lnTo>
                    <a:pt x="26543" y="2295652"/>
                  </a:lnTo>
                  <a:lnTo>
                    <a:pt x="4318761" y="2295652"/>
                  </a:lnTo>
                  <a:lnTo>
                    <a:pt x="4329124" y="2293556"/>
                  </a:lnTo>
                  <a:lnTo>
                    <a:pt x="4337558" y="2287841"/>
                  </a:lnTo>
                  <a:lnTo>
                    <a:pt x="4343229" y="2279364"/>
                  </a:lnTo>
                  <a:lnTo>
                    <a:pt x="4345305" y="2268981"/>
                  </a:lnTo>
                  <a:lnTo>
                    <a:pt x="4345305" y="26542"/>
                  </a:lnTo>
                  <a:lnTo>
                    <a:pt x="4343229" y="16234"/>
                  </a:lnTo>
                  <a:lnTo>
                    <a:pt x="4337558" y="7794"/>
                  </a:lnTo>
                  <a:lnTo>
                    <a:pt x="4329124" y="2093"/>
                  </a:lnTo>
                  <a:lnTo>
                    <a:pt x="4318761" y="0"/>
                  </a:lnTo>
                  <a:close/>
                </a:path>
              </a:pathLst>
            </a:custGeom>
            <a:solidFill>
              <a:srgbClr val="EAE8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41992" y="3697846"/>
              <a:ext cx="531380" cy="53138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93066" y="3878368"/>
              <a:ext cx="229153" cy="17027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830181" y="4388357"/>
            <a:ext cx="3491865" cy="938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48485A"/>
                </a:solidFill>
                <a:latin typeface="Cambria"/>
                <a:cs typeface="Cambria"/>
              </a:rPr>
              <a:t>Review</a:t>
            </a:r>
            <a:r>
              <a:rPr sz="1700" spc="110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1700" spc="170" dirty="0">
                <a:solidFill>
                  <a:srgbClr val="48485A"/>
                </a:solidFill>
                <a:latin typeface="Cambria"/>
                <a:cs typeface="Cambria"/>
              </a:rPr>
              <a:t>Discount</a:t>
            </a:r>
            <a:r>
              <a:rPr sz="1700" spc="100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1700" spc="150" dirty="0">
                <a:solidFill>
                  <a:srgbClr val="48485A"/>
                </a:solidFill>
                <a:latin typeface="Cambria"/>
                <a:cs typeface="Cambria"/>
              </a:rPr>
              <a:t>Policy</a:t>
            </a:r>
            <a:endParaRPr sz="1700">
              <a:latin typeface="Cambria"/>
              <a:cs typeface="Cambria"/>
            </a:endParaRPr>
          </a:p>
          <a:p>
            <a:pPr marL="12700" marR="5080">
              <a:lnSpc>
                <a:spcPct val="135600"/>
              </a:lnSpc>
              <a:spcBef>
                <a:spcPts val="745"/>
              </a:spcBef>
            </a:pP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Balance</a:t>
            </a:r>
            <a:r>
              <a:rPr sz="1350" spc="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48485A"/>
                </a:solidFill>
                <a:latin typeface="Arial MT"/>
                <a:cs typeface="Arial MT"/>
              </a:rPr>
              <a:t>sales</a:t>
            </a:r>
            <a:r>
              <a:rPr sz="1350" spc="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boosts</a:t>
            </a:r>
            <a:r>
              <a:rPr sz="1350" spc="-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70" dirty="0">
                <a:solidFill>
                  <a:srgbClr val="48485A"/>
                </a:solidFill>
                <a:latin typeface="Arial MT"/>
                <a:cs typeface="Arial MT"/>
              </a:rPr>
              <a:t>with</a:t>
            </a:r>
            <a:r>
              <a:rPr sz="135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50" dirty="0">
                <a:solidFill>
                  <a:srgbClr val="48485A"/>
                </a:solidFill>
                <a:latin typeface="Arial MT"/>
                <a:cs typeface="Arial MT"/>
              </a:rPr>
              <a:t>margin</a:t>
            </a:r>
            <a:r>
              <a:rPr sz="1350" spc="1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35" dirty="0">
                <a:solidFill>
                  <a:srgbClr val="48485A"/>
                </a:solidFill>
                <a:latin typeface="Arial MT"/>
                <a:cs typeface="Arial MT"/>
              </a:rPr>
              <a:t>control, 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especially</a:t>
            </a:r>
            <a:r>
              <a:rPr sz="1350" spc="8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75" dirty="0">
                <a:solidFill>
                  <a:srgbClr val="48485A"/>
                </a:solidFill>
                <a:latin typeface="Arial MT"/>
                <a:cs typeface="Arial MT"/>
              </a:rPr>
              <a:t>for</a:t>
            </a:r>
            <a:r>
              <a:rPr sz="1350" spc="1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discount-</a:t>
            </a:r>
            <a:r>
              <a:rPr sz="1350" spc="50" dirty="0">
                <a:solidFill>
                  <a:srgbClr val="48485A"/>
                </a:solidFill>
                <a:latin typeface="Arial MT"/>
                <a:cs typeface="Arial MT"/>
              </a:rPr>
              <a:t>dependent</a:t>
            </a:r>
            <a:r>
              <a:rPr sz="13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48485A"/>
                </a:solidFill>
                <a:latin typeface="Arial MT"/>
                <a:cs typeface="Arial MT"/>
              </a:rPr>
              <a:t>products</a:t>
            </a:r>
            <a:endParaRPr sz="135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9963" y="6015596"/>
            <a:ext cx="13390422" cy="70854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84351" y="6883704"/>
            <a:ext cx="5543550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5" dirty="0">
                <a:solidFill>
                  <a:srgbClr val="48485A"/>
                </a:solidFill>
                <a:latin typeface="Cambria"/>
                <a:cs typeface="Cambria"/>
              </a:rPr>
              <a:t>Product</a:t>
            </a:r>
            <a:r>
              <a:rPr sz="1700" spc="90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1700" spc="135" dirty="0">
                <a:solidFill>
                  <a:srgbClr val="48485A"/>
                </a:solidFill>
                <a:latin typeface="Cambria"/>
                <a:cs typeface="Cambria"/>
              </a:rPr>
              <a:t>Positioning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350" spc="10" dirty="0">
                <a:solidFill>
                  <a:srgbClr val="48485A"/>
                </a:solidFill>
                <a:latin typeface="Arial MT"/>
                <a:cs typeface="Arial MT"/>
              </a:rPr>
              <a:t>Highlight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50" dirty="0">
                <a:solidFill>
                  <a:srgbClr val="48485A"/>
                </a:solidFill>
                <a:latin typeface="Arial MT"/>
                <a:cs typeface="Arial MT"/>
              </a:rPr>
              <a:t>top-rated</a:t>
            </a:r>
            <a:r>
              <a:rPr sz="135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50" dirty="0">
                <a:solidFill>
                  <a:srgbClr val="48485A"/>
                </a:solidFill>
                <a:latin typeface="Arial MT"/>
                <a:cs typeface="Arial MT"/>
              </a:rPr>
              <a:t>and</a:t>
            </a:r>
            <a:r>
              <a:rPr sz="1350" spc="3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10" dirty="0">
                <a:solidFill>
                  <a:srgbClr val="48485A"/>
                </a:solidFill>
                <a:latin typeface="Arial MT"/>
                <a:cs typeface="Arial MT"/>
              </a:rPr>
              <a:t>best-selling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50" dirty="0">
                <a:solidFill>
                  <a:srgbClr val="48485A"/>
                </a:solidFill>
                <a:latin typeface="Arial MT"/>
                <a:cs typeface="Arial MT"/>
              </a:rPr>
              <a:t>products</a:t>
            </a:r>
            <a:r>
              <a:rPr sz="1350" spc="1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55" dirty="0">
                <a:solidFill>
                  <a:srgbClr val="48485A"/>
                </a:solidFill>
                <a:latin typeface="Arial MT"/>
                <a:cs typeface="Arial MT"/>
              </a:rPr>
              <a:t>in</a:t>
            </a:r>
            <a:r>
              <a:rPr sz="1350" spc="2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50" dirty="0">
                <a:solidFill>
                  <a:srgbClr val="48485A"/>
                </a:solidFill>
                <a:latin typeface="Arial MT"/>
                <a:cs typeface="Arial MT"/>
              </a:rPr>
              <a:t>marketing</a:t>
            </a:r>
            <a:r>
              <a:rPr sz="1350" spc="1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48485A"/>
                </a:solidFill>
                <a:latin typeface="Arial MT"/>
                <a:cs typeface="Arial MT"/>
              </a:rPr>
              <a:t>campaigns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80172" y="6883704"/>
            <a:ext cx="5572125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65" dirty="0">
                <a:solidFill>
                  <a:srgbClr val="48485A"/>
                </a:solidFill>
                <a:latin typeface="Cambria"/>
                <a:cs typeface="Cambria"/>
              </a:rPr>
              <a:t>Targeted</a:t>
            </a:r>
            <a:r>
              <a:rPr sz="1700" spc="95" dirty="0">
                <a:solidFill>
                  <a:srgbClr val="48485A"/>
                </a:solidFill>
                <a:latin typeface="Cambria"/>
                <a:cs typeface="Cambria"/>
              </a:rPr>
              <a:t> </a:t>
            </a:r>
            <a:r>
              <a:rPr sz="1700" spc="160" dirty="0">
                <a:solidFill>
                  <a:srgbClr val="48485A"/>
                </a:solidFill>
                <a:latin typeface="Cambria"/>
                <a:cs typeface="Cambria"/>
              </a:rPr>
              <a:t>Marketing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350" spc="-10" dirty="0">
                <a:solidFill>
                  <a:srgbClr val="48485A"/>
                </a:solidFill>
                <a:latin typeface="Arial MT"/>
                <a:cs typeface="Arial MT"/>
              </a:rPr>
              <a:t>Focus</a:t>
            </a:r>
            <a:r>
              <a:rPr sz="13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50" dirty="0">
                <a:solidFill>
                  <a:srgbClr val="48485A"/>
                </a:solidFill>
                <a:latin typeface="Arial MT"/>
                <a:cs typeface="Arial MT"/>
              </a:rPr>
              <a:t>efforts</a:t>
            </a:r>
            <a:r>
              <a:rPr sz="13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65" dirty="0">
                <a:solidFill>
                  <a:srgbClr val="48485A"/>
                </a:solidFill>
                <a:latin typeface="Arial MT"/>
                <a:cs typeface="Arial MT"/>
              </a:rPr>
              <a:t>on</a:t>
            </a:r>
            <a:r>
              <a:rPr sz="1350" spc="10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high-revenue</a:t>
            </a:r>
            <a:r>
              <a:rPr sz="1350" spc="12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age</a:t>
            </a:r>
            <a:r>
              <a:rPr sz="1350" spc="10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groups</a:t>
            </a:r>
            <a:r>
              <a:rPr sz="1350" spc="10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50" dirty="0">
                <a:solidFill>
                  <a:srgbClr val="48485A"/>
                </a:solidFill>
                <a:latin typeface="Arial MT"/>
                <a:cs typeface="Arial MT"/>
              </a:rPr>
              <a:t>and</a:t>
            </a:r>
            <a:r>
              <a:rPr sz="1350" spc="8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48485A"/>
                </a:solidFill>
                <a:latin typeface="Arial MT"/>
                <a:cs typeface="Arial MT"/>
              </a:rPr>
              <a:t>express-shipping</a:t>
            </a:r>
            <a:r>
              <a:rPr sz="1350" spc="5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48485A"/>
                </a:solidFill>
                <a:latin typeface="Arial MT"/>
                <a:cs typeface="Arial MT"/>
              </a:rPr>
              <a:t>users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304" y="4601336"/>
            <a:ext cx="341630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555" dirty="0">
                <a:solidFill>
                  <a:srgbClr val="403BCF"/>
                </a:solidFill>
                <a:latin typeface="Cambria"/>
                <a:cs typeface="Cambria"/>
              </a:rPr>
              <a:t>Thank</a:t>
            </a:r>
            <a:r>
              <a:rPr sz="4450" spc="280" dirty="0">
                <a:solidFill>
                  <a:srgbClr val="403BCF"/>
                </a:solidFill>
                <a:latin typeface="Cambria"/>
                <a:cs typeface="Cambria"/>
              </a:rPr>
              <a:t> </a:t>
            </a:r>
            <a:r>
              <a:rPr sz="4450" spc="430" dirty="0">
                <a:solidFill>
                  <a:srgbClr val="403BCF"/>
                </a:solidFill>
                <a:latin typeface="Cambria"/>
                <a:cs typeface="Cambria"/>
              </a:rPr>
              <a:t>You!</a:t>
            </a:r>
            <a:endParaRPr sz="44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1304" y="5634025"/>
            <a:ext cx="1295971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We</a:t>
            </a:r>
            <a:r>
              <a:rPr sz="1750" spc="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appreciate</a:t>
            </a:r>
            <a:r>
              <a:rPr sz="1750" spc="6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70" dirty="0">
                <a:solidFill>
                  <a:srgbClr val="48485A"/>
                </a:solidFill>
                <a:latin typeface="Arial MT"/>
                <a:cs typeface="Arial MT"/>
              </a:rPr>
              <a:t>your</a:t>
            </a:r>
            <a:r>
              <a:rPr sz="1750" spc="3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80" dirty="0">
                <a:solidFill>
                  <a:srgbClr val="48485A"/>
                </a:solidFill>
                <a:latin typeface="Arial MT"/>
                <a:cs typeface="Arial MT"/>
              </a:rPr>
              <a:t>time</a:t>
            </a:r>
            <a:r>
              <a:rPr sz="1750" spc="3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48485A"/>
                </a:solidFill>
                <a:latin typeface="Arial MT"/>
                <a:cs typeface="Arial MT"/>
              </a:rPr>
              <a:t>and</a:t>
            </a:r>
            <a:r>
              <a:rPr sz="1750" spc="5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70" dirty="0">
                <a:solidFill>
                  <a:srgbClr val="48485A"/>
                </a:solidFill>
                <a:latin typeface="Arial MT"/>
                <a:cs typeface="Arial MT"/>
              </a:rPr>
              <a:t>attention</a:t>
            </a:r>
            <a:r>
              <a:rPr sz="1750" spc="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today.</a:t>
            </a:r>
            <a:r>
              <a:rPr sz="1750" spc="4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We're</a:t>
            </a:r>
            <a:r>
              <a:rPr sz="1750" spc="3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50" dirty="0">
                <a:solidFill>
                  <a:srgbClr val="48485A"/>
                </a:solidFill>
                <a:latin typeface="Arial MT"/>
                <a:cs typeface="Arial MT"/>
              </a:rPr>
              <a:t>happy </a:t>
            </a:r>
            <a:r>
              <a:rPr sz="1750" spc="100" dirty="0">
                <a:solidFill>
                  <a:srgbClr val="48485A"/>
                </a:solidFill>
                <a:latin typeface="Arial MT"/>
                <a:cs typeface="Arial MT"/>
              </a:rPr>
              <a:t>to</a:t>
            </a:r>
            <a:r>
              <a:rPr sz="1750" spc="3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answer</a:t>
            </a:r>
            <a:r>
              <a:rPr sz="1750" spc="2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any</a:t>
            </a:r>
            <a:r>
              <a:rPr sz="1750" spc="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50" dirty="0">
                <a:solidFill>
                  <a:srgbClr val="48485A"/>
                </a:solidFill>
                <a:latin typeface="Arial MT"/>
                <a:cs typeface="Arial MT"/>
              </a:rPr>
              <a:t>questions</a:t>
            </a:r>
            <a:r>
              <a:rPr sz="1750" spc="3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50" dirty="0">
                <a:solidFill>
                  <a:srgbClr val="48485A"/>
                </a:solidFill>
                <a:latin typeface="Arial MT"/>
                <a:cs typeface="Arial MT"/>
              </a:rPr>
              <a:t>you</a:t>
            </a:r>
            <a:r>
              <a:rPr sz="1750" spc="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may</a:t>
            </a:r>
            <a:r>
              <a:rPr sz="1750" spc="4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have</a:t>
            </a:r>
            <a:r>
              <a:rPr sz="1750" spc="3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regarding</a:t>
            </a:r>
            <a:r>
              <a:rPr sz="1750" spc="35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95" dirty="0">
                <a:solidFill>
                  <a:srgbClr val="48485A"/>
                </a:solidFill>
                <a:latin typeface="Arial MT"/>
                <a:cs typeface="Arial MT"/>
              </a:rPr>
              <a:t>our</a:t>
            </a:r>
            <a:r>
              <a:rPr sz="1750" spc="30" dirty="0">
                <a:solidFill>
                  <a:srgbClr val="48485A"/>
                </a:solidFill>
                <a:latin typeface="Arial MT"/>
                <a:cs typeface="Arial MT"/>
              </a:rPr>
              <a:t> </a:t>
            </a:r>
            <a:r>
              <a:rPr sz="1750" spc="10" dirty="0">
                <a:solidFill>
                  <a:srgbClr val="48485A"/>
                </a:solidFill>
                <a:latin typeface="Arial MT"/>
                <a:cs typeface="Arial MT"/>
              </a:rPr>
              <a:t>analysis</a:t>
            </a:r>
            <a:r>
              <a:rPr sz="1750" spc="30" dirty="0">
                <a:solidFill>
                  <a:srgbClr val="48485A"/>
                </a:solidFill>
                <a:latin typeface="Arial MT"/>
                <a:cs typeface="Arial MT"/>
              </a:rPr>
              <a:t> and </a:t>
            </a:r>
            <a:r>
              <a:rPr sz="1750" spc="45" dirty="0">
                <a:solidFill>
                  <a:srgbClr val="48485A"/>
                </a:solidFill>
                <a:latin typeface="Arial MT"/>
                <a:cs typeface="Arial MT"/>
              </a:rPr>
              <a:t>recommendations.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623</Words>
  <Application>Microsoft Office PowerPoint</Application>
  <PresentationFormat>Custom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MT</vt:lpstr>
      <vt:lpstr>Calibri</vt:lpstr>
      <vt:lpstr>Cambria</vt:lpstr>
      <vt:lpstr>Times New Roman</vt:lpstr>
      <vt:lpstr>Office Theme</vt:lpstr>
      <vt:lpstr>Customer Shopping Behavior Analysis</vt:lpstr>
      <vt:lpstr>Project Overview</vt:lpstr>
      <vt:lpstr>Dataset at a Glance</vt:lpstr>
      <vt:lpstr>Data Preparation with Python</vt:lpstr>
      <vt:lpstr>Revenue Insights</vt:lpstr>
      <vt:lpstr>Product Performance Analysis</vt:lpstr>
      <vt:lpstr>Customer Segmentation</vt:lpstr>
      <vt:lpstr>Top Products by Category</vt:lpstr>
      <vt:lpstr>Interactive Power BI Dashboard</vt:lpstr>
      <vt:lpstr>Business 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vineet patel</dc:creator>
  <cp:lastModifiedBy>Ayush Gupta 07</cp:lastModifiedBy>
  <cp:revision>2</cp:revision>
  <dcterms:created xsi:type="dcterms:W3CDTF">2026-05-24T18:07:53Z</dcterms:created>
  <dcterms:modified xsi:type="dcterms:W3CDTF">2026-05-25T13:41:54Z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2025-10-30T00:00:00Z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2026-05-24T00:00:00Z</vt:filetime>
  </property>
  <property fmtid="{D5CDD505-2E9C-101B-9397-08002B2CF9AE}" pid="5" name="Producer">
    <vt:lpwstr>Microsoft® PowerPoint® 2021</vt:lpwstr>
  </property>
</Properties>
</file>